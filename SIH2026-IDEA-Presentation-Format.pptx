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st.gov/itl/ai-risk-management-framework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airc.nist.gov/?utm_source=chatgpt.com" TargetMode="External"/><Relationship Id="rId4" Type="http://schemas.openxmlformats.org/officeDocument/2006/relationships/hyperlink" Target="https://www.nist.gov/publications/artificial-intelligence-risk-management-framework-generative-artificial-intelligence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40476"/>
            <a:ext cx="11467424" cy="4378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–SIH26117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dirty="0"/>
              <a:t>Sovereign On-Premise Agentic AI Workbench using Open-Weight Multimodal LLMs for Confidential Industrial Work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800" dirty="0"/>
              <a:t>Smart Automation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238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AEGIS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03115" y="413690"/>
            <a:ext cx="9597088" cy="130029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TITLE: </a:t>
            </a:r>
            <a:r>
              <a:rPr lang="en-US" b="1" dirty="0"/>
              <a:t>Sovereign Agentic AI Workbench</a:t>
            </a:r>
            <a:br>
              <a:rPr lang="en-IN" b="1" dirty="0"/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3" y="1956769"/>
            <a:ext cx="11252627" cy="467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 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Confidential industrial knowledge needs controlled AI access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Engineering knowledge is distributed across reports, manuals, drawings, P&amp;IDs, code, and historical records.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External AI services can create confidentiality, data-residency, and governance concerns for sensitive workloads.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Conventional search retrieves information but does not complete multi-step knowledge-work tasks.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Engineers need answers </a:t>
            </a:r>
            <a:r>
              <a:rPr lang="en-IN" sz="1400" dirty="0"/>
              <a:t>linked</a:t>
            </a:r>
            <a:r>
              <a:rPr lang="en-IN" sz="1600" dirty="0"/>
              <a:t> to source evidence—not unsupported generated text.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Opportunity: bring AI-assisted investigation and bounded task execution inside controlled infrastructure.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lvl="0"/>
            <a:r>
              <a:rPr lang="en-IN" b="1" u="sng" dirty="0">
                <a:solidFill>
                  <a:schemeClr val="tx2"/>
                </a:solidFill>
              </a:rPr>
              <a:t>Solution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Self-hosted workbench designed for confidential enterprise knowledge.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Open-weight model strategy with task-based model selection.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Multimodal document understanding for text, tables, scanned documents, and engineering drawings.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Evidence-first knowledge retrieval across organizational sources.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Bounded agents use approved tools under external policy and authorization controls.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Verification, provenance, and audit are part of the workflow—not afterthoughts.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Differentiator: Local AI + organizational knowledge + controlled agent execution + verified, traceable artifacts.</a:t>
            </a:r>
          </a:p>
          <a:p>
            <a:pPr lvl="0"/>
            <a:endParaRPr lang="en-IN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AEGIS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0F969F4-A08D-EE07-DD2C-DC2020AA9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582" y="4221497"/>
            <a:ext cx="7212354" cy="213485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AEGIS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32AC9C-0F10-D2C6-A357-5A2D8DACD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630273"/>
              </p:ext>
            </p:extLst>
          </p:nvPr>
        </p:nvGraphicFramePr>
        <p:xfrm>
          <a:off x="329773" y="1424123"/>
          <a:ext cx="6882581" cy="3169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5781">
                  <a:extLst>
                    <a:ext uri="{9D8B030D-6E8A-4147-A177-3AD203B41FA5}">
                      <a16:colId xmlns:a16="http://schemas.microsoft.com/office/drawing/2014/main" val="1972860092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3827248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Technology direction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897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Local inference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vLLM</a:t>
                      </a:r>
                      <a:r>
                        <a:rPr lang="en-IN" sz="1400" dirty="0"/>
                        <a:t>; open-weight model portfolio, with Qwen3.5 identified as a leading compact multimodal family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598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Document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Docling + specialized OCR/layout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816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Agent orchestration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LangGraph for bounded workflows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96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Knowledge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Qdrant candidate for retrieval; evidence-first RAG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373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Application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SQLite for MVP transactional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56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Isolated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Firecracker candidate or qualified equivalent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2733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Observability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OpenTelemetry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9022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Hardened Linux, host-level network enforcement, local </a:t>
                      </a:r>
                      <a:r>
                        <a:rPr lang="en-IN" sz="1400" dirty="0" err="1"/>
                        <a:t>NVMe</a:t>
                      </a:r>
                      <a:r>
                        <a:rPr lang="en-IN" sz="1400" dirty="0"/>
                        <a:t>, controlled update path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68208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B0AF499-9383-E31E-1887-438944CAAD74}"/>
              </a:ext>
            </a:extLst>
          </p:cNvPr>
          <p:cNvSpPr txBox="1"/>
          <p:nvPr/>
        </p:nvSpPr>
        <p:spPr>
          <a:xfrm>
            <a:off x="7212355" y="1466952"/>
            <a:ext cx="437004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Candidate / preferred technology baseline</a:t>
            </a:r>
          </a:p>
          <a:p>
            <a:pPr>
              <a:buNone/>
            </a:pPr>
            <a:r>
              <a:rPr lang="en-IN" sz="1400" dirty="0"/>
              <a:t>Technology names are the architecture’s baseline/candidates; exact model, hardware feasibility, sandbox qualification, and end-to-end performance remain validation items.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127331"/>
            <a:ext cx="6296305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1200" b="1" dirty="0"/>
              <a:t>Technical Feasibility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Focused MVP: W3 Knowledge Investigation and W2 document/P&amp;ID understanding, with controlled artifact generation and bounded tool execution.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Architecture: Local inference, document processing, evidence-first retrieval, policy-controlled workflows, and auditable outputs.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Reference deployment target: Single hardened Linux node with 16–32 CPU cores, 128 GB ECC RAM preferred, one 48 GB-class GPU, and </a:t>
            </a:r>
            <a:r>
              <a:rPr lang="en-IN" sz="1200" dirty="0" err="1"/>
              <a:t>NVMe</a:t>
            </a:r>
            <a:r>
              <a:rPr lang="en-IN" sz="1200" dirty="0"/>
              <a:t> storage.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Key constraints: Model accuracy, GPU memory, complex drawing interpretation, agent reliability, and secure execution isolation.</a:t>
            </a:r>
          </a:p>
          <a:p>
            <a:pPr lvl="0"/>
            <a:endParaRPr lang="en-IN" sz="1200" dirty="0"/>
          </a:p>
          <a:p>
            <a:r>
              <a:rPr lang="en-IN" sz="1200" b="1" dirty="0"/>
              <a:t>Viability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Supports confidential-data workflows while reducing reliance on external AI services.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Potential to reduce manual knowledge-search effort and produce traceable, reusable work products.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Practical viability depends on measured accuracy, latency, concurrency, operating cost, and maintenance effort.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Security condition: Local deployment alone does not prove sovereignty; network egress, authorization, isolation, and audit controls must be tested.</a:t>
            </a:r>
          </a:p>
          <a:p>
            <a:pPr lvl="0"/>
            <a:endParaRPr lang="en-IN" sz="1200" dirty="0"/>
          </a:p>
          <a:p>
            <a:r>
              <a:rPr lang="en-IN" sz="1200" b="1" dirty="0"/>
              <a:t>Validation Roadmap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Complete end-to-end MVP workflows.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Measure retrieval quality, citation accuracy, and document extraction.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Benchmark performance on target hardware.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Test isolation, access controls, and zero-egress behavior.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Assess reliability, recovery, and operational readiness.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AEGIS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5FCB19-43AD-DA9E-1B8D-C55EDD5F13E7}"/>
              </a:ext>
            </a:extLst>
          </p:cNvPr>
          <p:cNvSpPr txBox="1"/>
          <p:nvPr/>
        </p:nvSpPr>
        <p:spPr>
          <a:xfrm>
            <a:off x="6626078" y="1112962"/>
            <a:ext cx="532011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Security is enforced by architecture—not by model promises</a:t>
            </a:r>
          </a:p>
          <a:p>
            <a:endParaRPr lang="en-IN" sz="14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Confidential data and intermediate representations are intended to remain within controlled infrastructure.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Identity, authorization, and policy sit outside the model; agents cannot grant themselves authority.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Data, retrieved passages, OCR output, and tool results are treated as untrusted input—not instructions.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Authorization precedes restricted evidence exposure wherever technically practical.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Tools and generated code operate within bounded permissions and isolated execution environments.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Independent verification, provenance, and audit support traceability and accountability.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Zero-egress and offline lifecycle are design requirements that must be empirically tested.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Callout: Local deployment alone does not prove sovereignty. Network egress, sandbox isolation, authorization, and audit integrity require validation.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261694"/>
            <a:ext cx="6582304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IN" sz="1400" b="1" dirty="0"/>
              <a:t>Expected impact</a:t>
            </a:r>
          </a:p>
          <a:p>
            <a:pPr lvl="0" algn="just"/>
            <a:r>
              <a:rPr lang="en-IN" sz="1400" dirty="0"/>
              <a:t>Confidentiality: Reduce dependence on sending sensitive engineering data to external AI services.</a:t>
            </a:r>
          </a:p>
          <a:p>
            <a:pPr lvl="0" algn="just"/>
            <a:r>
              <a:rPr lang="en-IN" sz="1400" dirty="0"/>
              <a:t>Productivity: Reduce manual search and cross-document investigation effort.</a:t>
            </a:r>
          </a:p>
          <a:p>
            <a:pPr lvl="0" algn="just"/>
            <a:r>
              <a:rPr lang="en-IN" sz="1400" dirty="0"/>
              <a:t>Decision support: Surface source-backed findings and highlight evidence gaps.</a:t>
            </a:r>
          </a:p>
          <a:p>
            <a:pPr lvl="0" algn="just"/>
            <a:r>
              <a:rPr lang="en-IN" sz="1400" dirty="0"/>
              <a:t>Operational value: Turn investigations into structured, reusable artifacts.</a:t>
            </a:r>
          </a:p>
          <a:p>
            <a:pPr lvl="0" algn="just"/>
            <a:r>
              <a:rPr lang="en-IN" sz="1400" dirty="0"/>
              <a:t>Governance: Improve traceability through controlled actions, verification, and audit.</a:t>
            </a:r>
          </a:p>
          <a:p>
            <a:pPr lvl="0" algn="just"/>
            <a:endParaRPr lang="en-IN" sz="1400" dirty="0"/>
          </a:p>
          <a:p>
            <a:pPr algn="just"/>
            <a:r>
              <a:rPr lang="en-IN" sz="1400" b="1" dirty="0"/>
              <a:t>Feasibility &amp; validation</a:t>
            </a:r>
          </a:p>
          <a:p>
            <a:pPr lvl="0" algn="just"/>
            <a:r>
              <a:rPr lang="en-IN" sz="1400" dirty="0"/>
              <a:t>Focused MVP on a single controlled Linux workstation/server.</a:t>
            </a:r>
          </a:p>
          <a:p>
            <a:pPr lvl="0" algn="just"/>
            <a:r>
              <a:rPr lang="en-IN" sz="1400" dirty="0"/>
              <a:t>Reference qualification target: 16–32 modern CPU cores, 128 GB ECC RAM preferred, one 48 GB-class GPU, </a:t>
            </a:r>
            <a:r>
              <a:rPr lang="en-IN" sz="1400" dirty="0" err="1"/>
              <a:t>NVMe</a:t>
            </a:r>
            <a:r>
              <a:rPr lang="en-IN" sz="1400" dirty="0"/>
              <a:t> storage, offline backup.</a:t>
            </a:r>
          </a:p>
          <a:p>
            <a:pPr lvl="0" algn="just"/>
            <a:r>
              <a:rPr lang="en-IN" sz="1400" dirty="0"/>
              <a:t>Validate full workflows under realistic resource, latency, concurrency, and failure conditions.</a:t>
            </a:r>
          </a:p>
          <a:p>
            <a:pPr lvl="0" algn="just"/>
            <a:r>
              <a:rPr lang="en-IN" sz="1400" dirty="0"/>
              <a:t>Key risks: local model quality, VRAM limits, P&amp;ID interpretation, agent reliability, sandbox security, and zero-egress proof.</a:t>
            </a:r>
          </a:p>
          <a:p>
            <a:pPr lvl="0" algn="just"/>
            <a:endParaRPr lang="en-IN" sz="1400" dirty="0"/>
          </a:p>
          <a:p>
            <a:pPr algn="just"/>
            <a:r>
              <a:rPr lang="en-IN" sz="1400" b="1" dirty="0"/>
              <a:t>Next milestones</a:t>
            </a:r>
          </a:p>
          <a:p>
            <a:pPr lvl="0" algn="just"/>
            <a:r>
              <a:rPr lang="en-IN" sz="1400" dirty="0"/>
              <a:t>Complete end-to-end W3/W2 workflow integration.</a:t>
            </a:r>
          </a:p>
          <a:p>
            <a:pPr lvl="0" algn="just"/>
            <a:r>
              <a:rPr lang="en-IN" sz="1400" dirty="0"/>
              <a:t>Validate retrieval quality, citations, and document extraction against test sets.</a:t>
            </a:r>
          </a:p>
          <a:p>
            <a:pPr lvl="0" algn="just"/>
            <a:r>
              <a:rPr lang="en-IN" sz="1400" dirty="0"/>
              <a:t>Qualify local inference and hardware resource envelope.</a:t>
            </a:r>
          </a:p>
          <a:p>
            <a:pPr lvl="0" algn="just"/>
            <a:r>
              <a:rPr lang="en-IN" sz="1400" dirty="0"/>
              <a:t>Test security boundaries, malicious documents, prompt injection, and failure recovery.</a:t>
            </a:r>
          </a:p>
          <a:p>
            <a:pPr lvl="0" algn="just"/>
            <a:r>
              <a:rPr lang="en-IN" sz="1400" dirty="0"/>
              <a:t>Demonstrate a controlled MVP with measured results.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AEGIS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27045" y="1432478"/>
            <a:ext cx="10438701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1400" b="1" dirty="0"/>
              <a:t>1. AI governance, evaluation and risk</a:t>
            </a:r>
          </a:p>
          <a:p>
            <a:r>
              <a:rPr lang="en-IN" sz="1400" b="1" dirty="0"/>
              <a:t>NIST — AI Risk Management Framework</a:t>
            </a:r>
          </a:p>
          <a:p>
            <a:r>
              <a:rPr lang="en-IN" sz="1100" b="1" dirty="0"/>
              <a:t>National Institute of Standards and Technology.</a:t>
            </a:r>
            <a:r>
              <a:rPr lang="en-IN" sz="1100" dirty="0"/>
              <a:t> </a:t>
            </a:r>
            <a:r>
              <a:rPr lang="en-IN" sz="1100" i="1" dirty="0"/>
              <a:t>Artificial Intelligence Risk Management Framework (AI RMF 1.0).</a:t>
            </a:r>
            <a:r>
              <a:rPr lang="en-IN" sz="1100" dirty="0"/>
              <a:t> 2023.</a:t>
            </a:r>
          </a:p>
          <a:p>
            <a:r>
              <a:rPr lang="en-IN" sz="1100" dirty="0">
                <a:hlinkClick r:id="rId3"/>
              </a:rPr>
              <a:t>NIST AI Risk Management Framework</a:t>
            </a:r>
            <a:endParaRPr lang="en-IN" sz="1100" dirty="0"/>
          </a:p>
          <a:p>
            <a:r>
              <a:rPr lang="en-IN" sz="1100" dirty="0"/>
              <a:t>Used for: AI risk management, trustworthiness, governance, evaluation and lifecycle controls. </a:t>
            </a:r>
          </a:p>
          <a:p>
            <a:endParaRPr lang="en-IN" sz="1100" dirty="0"/>
          </a:p>
          <a:p>
            <a:r>
              <a:rPr lang="en-IN" sz="1400" b="1" dirty="0"/>
              <a:t>NIST — Generative AI Profile</a:t>
            </a:r>
          </a:p>
          <a:p>
            <a:r>
              <a:rPr lang="en-IN" sz="1100" b="1" dirty="0"/>
              <a:t>Autio, C., Schwartz, R., Dunietz, J., Jain, S., Stanley, M., Tabassi, E., Hall, P., &amp; Roberts, K.</a:t>
            </a:r>
            <a:r>
              <a:rPr lang="en-IN" sz="1100" dirty="0"/>
              <a:t> </a:t>
            </a:r>
            <a:r>
              <a:rPr lang="en-IN" sz="1100" i="1" dirty="0"/>
              <a:t>Artificial Intelligence Risk Management Framework: Generative Artificial Intelligence Profile.</a:t>
            </a:r>
            <a:r>
              <a:rPr lang="en-IN" sz="1100" dirty="0"/>
              <a:t> NIST AI 600-1, 2024.</a:t>
            </a:r>
          </a:p>
          <a:p>
            <a:r>
              <a:rPr lang="en-IN" sz="1100" dirty="0">
                <a:hlinkClick r:id="rId4"/>
              </a:rPr>
              <a:t>NIST AI 600-1 — Generative AI Profile</a:t>
            </a:r>
            <a:endParaRPr lang="en-IN" sz="1100" dirty="0"/>
          </a:p>
          <a:p>
            <a:endParaRPr lang="en-IN" sz="1100" dirty="0"/>
          </a:p>
          <a:p>
            <a:r>
              <a:rPr lang="en-IN" sz="1400" b="1" dirty="0"/>
              <a:t>NIST AI Resource Center (AIRC).</a:t>
            </a:r>
            <a:endParaRPr lang="en-IN" sz="1400" dirty="0"/>
          </a:p>
          <a:p>
            <a:r>
              <a:rPr lang="en-IN" sz="1100" dirty="0">
                <a:hlinkClick r:id="rId5"/>
              </a:rPr>
              <a:t>NIST AI Resource Center — TEVV and AI evaluation resources</a:t>
            </a:r>
            <a:endParaRPr lang="en-IN" sz="1100" dirty="0"/>
          </a:p>
          <a:p>
            <a:r>
              <a:rPr lang="en-IN" sz="1100" b="1" dirty="0"/>
              <a:t>Booth, H., </a:t>
            </a:r>
            <a:r>
              <a:rPr lang="en-IN" sz="1100" b="1" dirty="0" err="1"/>
              <a:t>Souppaya</a:t>
            </a:r>
            <a:r>
              <a:rPr lang="en-IN" sz="1100" b="1" dirty="0"/>
              <a:t>, M., Vassilev, A., Ogata, M., Stanley, M., &amp; Scarfone, K.</a:t>
            </a:r>
            <a:r>
              <a:rPr lang="en-IN" sz="1100" dirty="0"/>
              <a:t> </a:t>
            </a:r>
            <a:r>
              <a:rPr lang="en-IN" sz="1100" i="1" dirty="0"/>
              <a:t>Secure Software Development Practices for Generative AI and Dual-Use Foundation Models: An SSDF Community Profile.</a:t>
            </a:r>
            <a:r>
              <a:rPr lang="en-IN" sz="1100" dirty="0"/>
              <a:t> NIST, 2024.</a:t>
            </a:r>
          </a:p>
          <a:p>
            <a:endParaRPr lang="en-IN" sz="1100" dirty="0"/>
          </a:p>
          <a:p>
            <a:r>
              <a:rPr lang="en-IN" sz="1400" b="1" dirty="0" err="1"/>
              <a:t>MeitY</a:t>
            </a:r>
            <a:r>
              <a:rPr lang="en-IN" sz="1400" b="1" dirty="0"/>
              <a:t> — Digital Personal Data Protection</a:t>
            </a:r>
          </a:p>
          <a:p>
            <a:r>
              <a:rPr lang="en-IN" sz="1100" b="1" dirty="0"/>
              <a:t>Ministry of Electronics and Information Technology, Government of India.</a:t>
            </a:r>
            <a:r>
              <a:rPr lang="en-IN" sz="1100" dirty="0"/>
              <a:t> </a:t>
            </a:r>
            <a:r>
              <a:rPr lang="en-IN" sz="1100" i="1" dirty="0"/>
              <a:t>Digital Personal Data Protection Act, 2023</a:t>
            </a:r>
            <a:r>
              <a:rPr lang="en-IN" sz="1100" dirty="0"/>
              <a:t> and associated regulatory material.</a:t>
            </a:r>
          </a:p>
          <a:p>
            <a:endParaRPr lang="en-IN" sz="11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AEGIS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7550</TotalTime>
  <Words>1111</Words>
  <Application>Microsoft Office PowerPoint</Application>
  <PresentationFormat>Widescreen</PresentationFormat>
  <Paragraphs>134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TITLE: Sovereign Agentic AI Workbench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My Things</cp:lastModifiedBy>
  <cp:revision>153</cp:revision>
  <dcterms:created xsi:type="dcterms:W3CDTF">2013-12-12T18:46:50Z</dcterms:created>
  <dcterms:modified xsi:type="dcterms:W3CDTF">2026-09-17T05:24:24Z</dcterms:modified>
  <cp:category/>
</cp:coreProperties>
</file>