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8"/>
  </p:notesMasterIdLst>
  <p:sldIdLst>
    <p:sldId id="291" r:id="rId2"/>
    <p:sldId id="281" r:id="rId3"/>
    <p:sldId id="290" r:id="rId4"/>
    <p:sldId id="293" r:id="rId5"/>
    <p:sldId id="294" r:id="rId6"/>
    <p:sldId id="296" r:id="rId7"/>
  </p:sldIdLst>
  <p:sldSz cx="12192000" cy="6858000"/>
  <p:notesSz cx="6858000" cy="9144000"/>
  <p:defaultTextStyle>
    <a:defPPr>
      <a:defRPr lang="en-US"/>
    </a:defPPr>
    <a:lvl1pPr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1pPr>
    <a:lvl2pPr marL="4572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2pPr>
    <a:lvl3pPr marL="9144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3pPr>
    <a:lvl4pPr marL="13716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4pPr>
    <a:lvl5pPr marL="18288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BBB59"/>
    <a:srgbClr val="39B0D4"/>
    <a:srgbClr val="727272"/>
    <a:srgbClr val="010000"/>
    <a:srgbClr val="FFA751"/>
    <a:srgbClr val="32323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850" y="62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25" d="100"/>
        <a:sy n="125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C4D5ADD5-2BBC-4A94-8F86-D9013941F742}" type="datetimeFigureOut">
              <a:rPr lang="en-US"/>
              <a:pPr/>
              <a:t>9/20/2026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EC790738-CFC9-4A5E-8424-6B42AA5706F7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749454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ＭＳ Ｐゴシック" charset="0"/>
      </a:defRPr>
    </a:lvl1pPr>
    <a:lvl2pPr marL="4572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2pPr>
    <a:lvl3pPr marL="9144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3pPr>
    <a:lvl4pPr marL="13716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4pPr>
    <a:lvl5pPr marL="18288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6386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6387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65F62A7E-A2F8-438F-9CF8-47DE63F471B4}" type="slidenum">
              <a:rPr lang="en-US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407322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0CA7B74D-3791-4AC6-8451-F10DBCCCDD9A}" type="slidenum">
              <a:rPr lang="en-US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520629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7350546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4172284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0867272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8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60792E3-D524-454C-8AFD-A91972900BCB}" type="datetime1">
              <a:rPr lang="en-US" smtClean="0"/>
              <a:t>9/20/2026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B7E1BAA-A38D-40DE-B22C-DF9BD7D8205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708B7524-32A2-4C20-A58C-BC3BAA1042FC}" type="datetime1">
              <a:rPr lang="en-US" smtClean="0"/>
              <a:t>9/20/2026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77C3CE7-23F7-4828-823C-E0205DF2CF9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3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1E994447-D6B2-43BB-A877-57F1A267B999}" type="datetime1">
              <a:rPr lang="en-US" smtClean="0"/>
              <a:t>9/20/2026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1DB31D2-2A87-4F4C-A9AD-05C6CC2B321D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68920E16-BD35-483C-AA6B-346FC7E46DEA}" type="datetime1">
              <a:rPr lang="en-US" smtClean="0"/>
              <a:t>9/20/2026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1FC16D9-1635-4844-816A-0A8A2160FADA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9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9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EAC6F8-5103-4FC0-A69E-5C6AE6469DA8}" type="datetime1">
              <a:rPr lang="en-US" smtClean="0"/>
              <a:t>9/20/2026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1C4100A-98DE-4944-910A-A93F5CA9F724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60C6921-0627-4C8F-83D5-0CF936D2FFDD}" type="datetime1">
              <a:rPr lang="en-US" smtClean="0"/>
              <a:t>9/20/2026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A63342B-5A73-45DC-864D-086DE78037EF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F08AD7-8103-40F8-983C-E2BA6BB9CBE0}" type="datetime1">
              <a:rPr lang="en-US" smtClean="0"/>
              <a:t>9/20/2026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635AFB3-1ACD-44AC-8702-86B1729DF03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2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3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2" y="1435103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DF8C06B4-9380-4A4D-AF49-A3596E17DAF5}" type="datetime1">
              <a:rPr lang="en-US" smtClean="0"/>
              <a:t>9/20/2026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5CF15F3-5E77-4C57-9E21-50D6D1D6C022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F7FDEF1-C582-4E22-9E77-D68326471F28}" type="datetime1">
              <a:rPr lang="en-US" smtClean="0"/>
              <a:t>9/20/2026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242169A-B3C7-4FB6-967F-AF95F4EB331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053C3A68-6922-42D3-8905-ECC2D82A3469}" type="datetime1">
              <a:rPr lang="en-US" smtClean="0"/>
              <a:t>9/20/2026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4FDD027-5576-4F27-AAB6-1D994836EE7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41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41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B69E9F4-7604-4950-A8B2-8ACDEDB1506E}" type="datetime1">
              <a:rPr lang="en-US" smtClean="0"/>
              <a:t>9/20/2026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957CE61-8714-431B-A40A-01B1C5541AB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-47625"/>
            <a:ext cx="10972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095375"/>
            <a:ext cx="10972800" cy="50307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780A9602-A9A9-453F-AEF1-37B5837E02CD}" type="datetime1">
              <a:rPr lang="en-US" smtClean="0"/>
              <a:t>9/20/2026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TradeGothic"/>
                <a:ea typeface="+mn-ea"/>
                <a:cs typeface="+mn-cs"/>
              </a:defRPr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1411BA53-830D-4830-BB65-E58DBE17D0B7}" type="slidenum">
              <a:rPr lang="en-US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ctr" defTabSz="457200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2pPr>
      <a:lvl3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3pPr>
      <a:lvl4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4pPr>
      <a:lvl5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5pPr>
      <a:lvl6pPr marL="4572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6pPr>
      <a:lvl7pPr marL="9144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7pPr>
      <a:lvl8pPr marL="13716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8pPr>
      <a:lvl9pPr marL="18288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9pPr>
    </p:titleStyle>
    <p:bodyStyle>
      <a:lvl1pPr marL="342900" indent="-3429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32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marL="742950" indent="-28575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8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2pPr>
      <a:lvl3pPr marL="11430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24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3pPr>
      <a:lvl4pPr marL="16002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4pPr>
      <a:lvl5pPr marL="20574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»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6" name="Rectangle 24">
            <a:extLst>
              <a:ext uri="{FF2B5EF4-FFF2-40B4-BE49-F238E27FC236}">
                <a16:creationId xmlns:a16="http://schemas.microsoft.com/office/drawing/2014/main" id="{3E443FD7-A66B-4AA0-872D-B088B9BC5F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2400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Freeform: Shape 26">
            <a:extLst>
              <a:ext uri="{FF2B5EF4-FFF2-40B4-BE49-F238E27FC236}">
                <a16:creationId xmlns:a16="http://schemas.microsoft.com/office/drawing/2014/main" id="{C04BE0EF-3561-49B4-9A29-F283168A91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56780" y="851521"/>
            <a:ext cx="4638605" cy="5154967"/>
          </a:xfrm>
          <a:custGeom>
            <a:avLst/>
            <a:gdLst>
              <a:gd name="connsiteX0" fmla="*/ 363179 w 6184806"/>
              <a:gd name="connsiteY0" fmla="*/ 3125191 h 5154967"/>
              <a:gd name="connsiteX1" fmla="*/ 898270 w 6184806"/>
              <a:gd name="connsiteY1" fmla="*/ 3125191 h 5154967"/>
              <a:gd name="connsiteX2" fmla="*/ 980326 w 6184806"/>
              <a:gd name="connsiteY2" fmla="*/ 3173551 h 5154967"/>
              <a:gd name="connsiteX3" fmla="*/ 1248448 w 6184806"/>
              <a:gd name="connsiteY3" fmla="*/ 3635277 h 5154967"/>
              <a:gd name="connsiteX4" fmla="*/ 1248448 w 6184806"/>
              <a:gd name="connsiteY4" fmla="*/ 3729695 h 5154967"/>
              <a:gd name="connsiteX5" fmla="*/ 980326 w 6184806"/>
              <a:gd name="connsiteY5" fmla="*/ 4191421 h 5154967"/>
              <a:gd name="connsiteX6" fmla="*/ 898270 w 6184806"/>
              <a:gd name="connsiteY6" fmla="*/ 4239781 h 5154967"/>
              <a:gd name="connsiteX7" fmla="*/ 363179 w 6184806"/>
              <a:gd name="connsiteY7" fmla="*/ 4239781 h 5154967"/>
              <a:gd name="connsiteX8" fmla="*/ 279969 w 6184806"/>
              <a:gd name="connsiteY8" fmla="*/ 4191421 h 5154967"/>
              <a:gd name="connsiteX9" fmla="*/ 13002 w 6184806"/>
              <a:gd name="connsiteY9" fmla="*/ 3729695 h 5154967"/>
              <a:gd name="connsiteX10" fmla="*/ 13002 w 6184806"/>
              <a:gd name="connsiteY10" fmla="*/ 3635277 h 5154967"/>
              <a:gd name="connsiteX11" fmla="*/ 279969 w 6184806"/>
              <a:gd name="connsiteY11" fmla="*/ 3173551 h 5154967"/>
              <a:gd name="connsiteX12" fmla="*/ 363179 w 6184806"/>
              <a:gd name="connsiteY12" fmla="*/ 3125191 h 5154967"/>
              <a:gd name="connsiteX13" fmla="*/ 2489721 w 6184806"/>
              <a:gd name="connsiteY13" fmla="*/ 570035 h 5154967"/>
              <a:gd name="connsiteX14" fmla="*/ 2764862 w 6184806"/>
              <a:gd name="connsiteY14" fmla="*/ 570035 h 5154967"/>
              <a:gd name="connsiteX15" fmla="*/ 2796959 w 6184806"/>
              <a:gd name="connsiteY15" fmla="*/ 570035 h 5154967"/>
              <a:gd name="connsiteX16" fmla="*/ 2827587 w 6184806"/>
              <a:gd name="connsiteY16" fmla="*/ 622777 h 5154967"/>
              <a:gd name="connsiteX17" fmla="*/ 2977604 w 6184806"/>
              <a:gd name="connsiteY17" fmla="*/ 881117 h 5154967"/>
              <a:gd name="connsiteX18" fmla="*/ 2977604 w 6184806"/>
              <a:gd name="connsiteY18" fmla="*/ 1025720 h 5154967"/>
              <a:gd name="connsiteX19" fmla="*/ 2566968 w 6184806"/>
              <a:gd name="connsiteY19" fmla="*/ 1732863 h 5154967"/>
              <a:gd name="connsiteX20" fmla="*/ 2441299 w 6184806"/>
              <a:gd name="connsiteY20" fmla="*/ 1806927 h 5154967"/>
              <a:gd name="connsiteX21" fmla="*/ 1621798 w 6184806"/>
              <a:gd name="connsiteY21" fmla="*/ 1806927 h 5154967"/>
              <a:gd name="connsiteX22" fmla="*/ 1583218 w 6184806"/>
              <a:gd name="connsiteY22" fmla="*/ 1801802 h 5154967"/>
              <a:gd name="connsiteX23" fmla="*/ 1556683 w 6184806"/>
              <a:gd name="connsiteY23" fmla="*/ 1790677 h 5154967"/>
              <a:gd name="connsiteX24" fmla="*/ 1572899 w 6184806"/>
              <a:gd name="connsiteY24" fmla="*/ 1762630 h 5154967"/>
              <a:gd name="connsiteX25" fmla="*/ 2147429 w 6184806"/>
              <a:gd name="connsiteY25" fmla="*/ 768968 h 5154967"/>
              <a:gd name="connsiteX26" fmla="*/ 2489721 w 6184806"/>
              <a:gd name="connsiteY26" fmla="*/ 570035 h 5154967"/>
              <a:gd name="connsiteX27" fmla="*/ 1573268 w 6184806"/>
              <a:gd name="connsiteY27" fmla="*/ 0 h 5154967"/>
              <a:gd name="connsiteX28" fmla="*/ 2497662 w 6184806"/>
              <a:gd name="connsiteY28" fmla="*/ 0 h 5154967"/>
              <a:gd name="connsiteX29" fmla="*/ 2639415 w 6184806"/>
              <a:gd name="connsiteY29" fmla="*/ 83546 h 5154967"/>
              <a:gd name="connsiteX30" fmla="*/ 2887862 w 6184806"/>
              <a:gd name="connsiteY30" fmla="*/ 511387 h 5154967"/>
              <a:gd name="connsiteX31" fmla="*/ 2915928 w 6184806"/>
              <a:gd name="connsiteY31" fmla="*/ 559720 h 5154967"/>
              <a:gd name="connsiteX32" fmla="*/ 2893844 w 6184806"/>
              <a:gd name="connsiteY32" fmla="*/ 559720 h 5154967"/>
              <a:gd name="connsiteX33" fmla="*/ 2789466 w 6184806"/>
              <a:gd name="connsiteY33" fmla="*/ 559720 h 5154967"/>
              <a:gd name="connsiteX34" fmla="*/ 2744122 w 6184806"/>
              <a:gd name="connsiteY34" fmla="*/ 481634 h 5154967"/>
              <a:gd name="connsiteX35" fmla="*/ 2570885 w 6184806"/>
              <a:gd name="connsiteY35" fmla="*/ 183309 h 5154967"/>
              <a:gd name="connsiteX36" fmla="*/ 2445216 w 6184806"/>
              <a:gd name="connsiteY36" fmla="*/ 109243 h 5154967"/>
              <a:gd name="connsiteX37" fmla="*/ 1625714 w 6184806"/>
              <a:gd name="connsiteY37" fmla="*/ 109243 h 5154967"/>
              <a:gd name="connsiteX38" fmla="*/ 1498276 w 6184806"/>
              <a:gd name="connsiteY38" fmla="*/ 183309 h 5154967"/>
              <a:gd name="connsiteX39" fmla="*/ 1089410 w 6184806"/>
              <a:gd name="connsiteY39" fmla="*/ 890450 h 5154967"/>
              <a:gd name="connsiteX40" fmla="*/ 1089410 w 6184806"/>
              <a:gd name="connsiteY40" fmla="*/ 1035054 h 5154967"/>
              <a:gd name="connsiteX41" fmla="*/ 1498276 w 6184806"/>
              <a:gd name="connsiteY41" fmla="*/ 1742196 h 5154967"/>
              <a:gd name="connsiteX42" fmla="*/ 1552039 w 6184806"/>
              <a:gd name="connsiteY42" fmla="*/ 1796422 h 5154967"/>
              <a:gd name="connsiteX43" fmla="*/ 1558260 w 6184806"/>
              <a:gd name="connsiteY43" fmla="*/ 1799029 h 5154967"/>
              <a:gd name="connsiteX44" fmla="*/ 1524911 w 6184806"/>
              <a:gd name="connsiteY44" fmla="*/ 1856707 h 5154967"/>
              <a:gd name="connsiteX45" fmla="*/ 1500108 w 6184806"/>
              <a:gd name="connsiteY45" fmla="*/ 1899604 h 5154967"/>
              <a:gd name="connsiteX46" fmla="*/ 1525834 w 6184806"/>
              <a:gd name="connsiteY46" fmla="*/ 1910390 h 5154967"/>
              <a:gd name="connsiteX47" fmla="*/ 1569352 w 6184806"/>
              <a:gd name="connsiteY47" fmla="*/ 1916170 h 5154967"/>
              <a:gd name="connsiteX48" fmla="*/ 2493745 w 6184806"/>
              <a:gd name="connsiteY48" fmla="*/ 1916170 h 5154967"/>
              <a:gd name="connsiteX49" fmla="*/ 2635498 w 6184806"/>
              <a:gd name="connsiteY49" fmla="*/ 1832627 h 5154967"/>
              <a:gd name="connsiteX50" fmla="*/ 3098693 w 6184806"/>
              <a:gd name="connsiteY50" fmla="*/ 1034974 h 5154967"/>
              <a:gd name="connsiteX51" fmla="*/ 3098693 w 6184806"/>
              <a:gd name="connsiteY51" fmla="*/ 871863 h 5154967"/>
              <a:gd name="connsiteX52" fmla="*/ 2945803 w 6184806"/>
              <a:gd name="connsiteY52" fmla="*/ 608576 h 5154967"/>
              <a:gd name="connsiteX53" fmla="*/ 2923422 w 6184806"/>
              <a:gd name="connsiteY53" fmla="*/ 570035 h 5154967"/>
              <a:gd name="connsiteX54" fmla="*/ 3027104 w 6184806"/>
              <a:gd name="connsiteY54" fmla="*/ 570035 h 5154967"/>
              <a:gd name="connsiteX55" fmla="*/ 4690846 w 6184806"/>
              <a:gd name="connsiteY55" fmla="*/ 570035 h 5154967"/>
              <a:gd name="connsiteX56" fmla="*/ 5028384 w 6184806"/>
              <a:gd name="connsiteY56" fmla="*/ 768968 h 5154967"/>
              <a:gd name="connsiteX57" fmla="*/ 6131323 w 6184806"/>
              <a:gd name="connsiteY57" fmla="*/ 2668304 h 5154967"/>
              <a:gd name="connsiteX58" fmla="*/ 6131323 w 6184806"/>
              <a:gd name="connsiteY58" fmla="*/ 3056698 h 5154967"/>
              <a:gd name="connsiteX59" fmla="*/ 5028384 w 6184806"/>
              <a:gd name="connsiteY59" fmla="*/ 4956035 h 5154967"/>
              <a:gd name="connsiteX60" fmla="*/ 4690846 w 6184806"/>
              <a:gd name="connsiteY60" fmla="*/ 5154967 h 5154967"/>
              <a:gd name="connsiteX61" fmla="*/ 2489721 w 6184806"/>
              <a:gd name="connsiteY61" fmla="*/ 5154967 h 5154967"/>
              <a:gd name="connsiteX62" fmla="*/ 2147429 w 6184806"/>
              <a:gd name="connsiteY62" fmla="*/ 4956035 h 5154967"/>
              <a:gd name="connsiteX63" fmla="*/ 1049243 w 6184806"/>
              <a:gd name="connsiteY63" fmla="*/ 3056698 h 5154967"/>
              <a:gd name="connsiteX64" fmla="*/ 1049243 w 6184806"/>
              <a:gd name="connsiteY64" fmla="*/ 2668304 h 5154967"/>
              <a:gd name="connsiteX65" fmla="*/ 1457007 w 6184806"/>
              <a:gd name="connsiteY65" fmla="*/ 1963067 h 5154967"/>
              <a:gd name="connsiteX66" fmla="*/ 1491373 w 6184806"/>
              <a:gd name="connsiteY66" fmla="*/ 1903634 h 5154967"/>
              <a:gd name="connsiteX67" fmla="*/ 1490164 w 6184806"/>
              <a:gd name="connsiteY67" fmla="*/ 1903127 h 5154967"/>
              <a:gd name="connsiteX68" fmla="*/ 1429519 w 6184806"/>
              <a:gd name="connsiteY68" fmla="*/ 1841960 h 5154967"/>
              <a:gd name="connsiteX69" fmla="*/ 968320 w 6184806"/>
              <a:gd name="connsiteY69" fmla="*/ 1044307 h 5154967"/>
              <a:gd name="connsiteX70" fmla="*/ 968320 w 6184806"/>
              <a:gd name="connsiteY70" fmla="*/ 881196 h 5154967"/>
              <a:gd name="connsiteX71" fmla="*/ 1429519 w 6184806"/>
              <a:gd name="connsiteY71" fmla="*/ 83546 h 5154967"/>
              <a:gd name="connsiteX72" fmla="*/ 1573268 w 6184806"/>
              <a:gd name="connsiteY72" fmla="*/ 0 h 51549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</a:cxnLst>
            <a:rect l="l" t="t" r="r" b="b"/>
            <a:pathLst>
              <a:path w="6184806" h="5154967">
                <a:moveTo>
                  <a:pt x="363179" y="3125191"/>
                </a:moveTo>
                <a:cubicBezTo>
                  <a:pt x="363179" y="3125191"/>
                  <a:pt x="363179" y="3125191"/>
                  <a:pt x="898270" y="3125191"/>
                </a:cubicBezTo>
                <a:cubicBezTo>
                  <a:pt x="931786" y="3125191"/>
                  <a:pt x="964145" y="3143614"/>
                  <a:pt x="980326" y="3173551"/>
                </a:cubicBezTo>
                <a:cubicBezTo>
                  <a:pt x="980326" y="3173551"/>
                  <a:pt x="980326" y="3173551"/>
                  <a:pt x="1248448" y="3635277"/>
                </a:cubicBezTo>
                <a:cubicBezTo>
                  <a:pt x="1265784" y="3664063"/>
                  <a:pt x="1265784" y="3700909"/>
                  <a:pt x="1248448" y="3729695"/>
                </a:cubicBezTo>
                <a:cubicBezTo>
                  <a:pt x="1248448" y="3729695"/>
                  <a:pt x="1248448" y="3729695"/>
                  <a:pt x="980326" y="4191421"/>
                </a:cubicBezTo>
                <a:cubicBezTo>
                  <a:pt x="964145" y="4221358"/>
                  <a:pt x="931786" y="4239781"/>
                  <a:pt x="898270" y="4239781"/>
                </a:cubicBezTo>
                <a:cubicBezTo>
                  <a:pt x="898270" y="4239781"/>
                  <a:pt x="898270" y="4239781"/>
                  <a:pt x="363179" y="4239781"/>
                </a:cubicBezTo>
                <a:cubicBezTo>
                  <a:pt x="328508" y="4239781"/>
                  <a:pt x="297305" y="4221358"/>
                  <a:pt x="279969" y="4191421"/>
                </a:cubicBezTo>
                <a:cubicBezTo>
                  <a:pt x="279969" y="4191421"/>
                  <a:pt x="279969" y="4191421"/>
                  <a:pt x="13002" y="3729695"/>
                </a:cubicBezTo>
                <a:cubicBezTo>
                  <a:pt x="-4334" y="3700909"/>
                  <a:pt x="-4334" y="3664063"/>
                  <a:pt x="13002" y="3635277"/>
                </a:cubicBezTo>
                <a:cubicBezTo>
                  <a:pt x="13002" y="3635277"/>
                  <a:pt x="13002" y="3635277"/>
                  <a:pt x="279969" y="3173551"/>
                </a:cubicBezTo>
                <a:cubicBezTo>
                  <a:pt x="297305" y="3143614"/>
                  <a:pt x="328508" y="3125191"/>
                  <a:pt x="363179" y="3125191"/>
                </a:cubicBezTo>
                <a:close/>
                <a:moveTo>
                  <a:pt x="2489721" y="570035"/>
                </a:moveTo>
                <a:cubicBezTo>
                  <a:pt x="2489721" y="570035"/>
                  <a:pt x="2489721" y="570035"/>
                  <a:pt x="2764862" y="570035"/>
                </a:cubicBezTo>
                <a:lnTo>
                  <a:pt x="2796959" y="570035"/>
                </a:lnTo>
                <a:lnTo>
                  <a:pt x="2827587" y="622777"/>
                </a:lnTo>
                <a:cubicBezTo>
                  <a:pt x="2870233" y="696217"/>
                  <a:pt x="2919858" y="781675"/>
                  <a:pt x="2977604" y="881117"/>
                </a:cubicBezTo>
                <a:cubicBezTo>
                  <a:pt x="3004153" y="925204"/>
                  <a:pt x="3004153" y="981634"/>
                  <a:pt x="2977604" y="1025720"/>
                </a:cubicBezTo>
                <a:cubicBezTo>
                  <a:pt x="2977604" y="1025720"/>
                  <a:pt x="2977604" y="1025720"/>
                  <a:pt x="2566968" y="1732863"/>
                </a:cubicBezTo>
                <a:cubicBezTo>
                  <a:pt x="2542188" y="1778712"/>
                  <a:pt x="2492629" y="1806927"/>
                  <a:pt x="2441299" y="1806927"/>
                </a:cubicBezTo>
                <a:cubicBezTo>
                  <a:pt x="2441299" y="1806927"/>
                  <a:pt x="2441299" y="1806927"/>
                  <a:pt x="1621798" y="1806927"/>
                </a:cubicBezTo>
                <a:cubicBezTo>
                  <a:pt x="1608523" y="1806927"/>
                  <a:pt x="1595580" y="1805163"/>
                  <a:pt x="1583218" y="1801802"/>
                </a:cubicBezTo>
                <a:lnTo>
                  <a:pt x="1556683" y="1790677"/>
                </a:lnTo>
                <a:lnTo>
                  <a:pt x="1572899" y="1762630"/>
                </a:lnTo>
                <a:cubicBezTo>
                  <a:pt x="1719523" y="1509042"/>
                  <a:pt x="1907201" y="1184448"/>
                  <a:pt x="2147429" y="768968"/>
                </a:cubicBezTo>
                <a:cubicBezTo>
                  <a:pt x="2218739" y="645819"/>
                  <a:pt x="2347099" y="570035"/>
                  <a:pt x="2489721" y="570035"/>
                </a:cubicBezTo>
                <a:close/>
                <a:moveTo>
                  <a:pt x="1573268" y="0"/>
                </a:moveTo>
                <a:cubicBezTo>
                  <a:pt x="1573268" y="0"/>
                  <a:pt x="1573268" y="0"/>
                  <a:pt x="2497662" y="0"/>
                </a:cubicBezTo>
                <a:cubicBezTo>
                  <a:pt x="2555561" y="0"/>
                  <a:pt x="2611463" y="31828"/>
                  <a:pt x="2639415" y="83546"/>
                </a:cubicBezTo>
                <a:cubicBezTo>
                  <a:pt x="2639415" y="83546"/>
                  <a:pt x="2639415" y="83546"/>
                  <a:pt x="2887862" y="511387"/>
                </a:cubicBezTo>
                <a:lnTo>
                  <a:pt x="2915928" y="559720"/>
                </a:lnTo>
                <a:lnTo>
                  <a:pt x="2893844" y="559720"/>
                </a:lnTo>
                <a:lnTo>
                  <a:pt x="2789466" y="559720"/>
                </a:lnTo>
                <a:lnTo>
                  <a:pt x="2744122" y="481634"/>
                </a:lnTo>
                <a:cubicBezTo>
                  <a:pt x="2570885" y="183309"/>
                  <a:pt x="2570885" y="183309"/>
                  <a:pt x="2570885" y="183309"/>
                </a:cubicBezTo>
                <a:cubicBezTo>
                  <a:pt x="2546104" y="137459"/>
                  <a:pt x="2496545" y="109243"/>
                  <a:pt x="2445216" y="109243"/>
                </a:cubicBezTo>
                <a:cubicBezTo>
                  <a:pt x="1625714" y="109243"/>
                  <a:pt x="1625714" y="109243"/>
                  <a:pt x="1625714" y="109243"/>
                </a:cubicBezTo>
                <a:cubicBezTo>
                  <a:pt x="1572615" y="109243"/>
                  <a:pt x="1524825" y="137459"/>
                  <a:pt x="1498276" y="183309"/>
                </a:cubicBezTo>
                <a:cubicBezTo>
                  <a:pt x="1089410" y="890450"/>
                  <a:pt x="1089410" y="890450"/>
                  <a:pt x="1089410" y="890450"/>
                </a:cubicBezTo>
                <a:cubicBezTo>
                  <a:pt x="1062860" y="934537"/>
                  <a:pt x="1062860" y="990967"/>
                  <a:pt x="1089410" y="1035054"/>
                </a:cubicBezTo>
                <a:cubicBezTo>
                  <a:pt x="1498276" y="1742196"/>
                  <a:pt x="1498276" y="1742196"/>
                  <a:pt x="1498276" y="1742196"/>
                </a:cubicBezTo>
                <a:cubicBezTo>
                  <a:pt x="1511551" y="1765121"/>
                  <a:pt x="1530135" y="1783637"/>
                  <a:pt x="1552039" y="1796422"/>
                </a:cubicBezTo>
                <a:lnTo>
                  <a:pt x="1558260" y="1799029"/>
                </a:lnTo>
                <a:lnTo>
                  <a:pt x="1524911" y="1856707"/>
                </a:lnTo>
                <a:lnTo>
                  <a:pt x="1500108" y="1899604"/>
                </a:lnTo>
                <a:lnTo>
                  <a:pt x="1525834" y="1910390"/>
                </a:lnTo>
                <a:cubicBezTo>
                  <a:pt x="1539779" y="1914181"/>
                  <a:pt x="1554378" y="1916170"/>
                  <a:pt x="1569352" y="1916170"/>
                </a:cubicBezTo>
                <a:cubicBezTo>
                  <a:pt x="2493745" y="1916170"/>
                  <a:pt x="2493745" y="1916170"/>
                  <a:pt x="2493745" y="1916170"/>
                </a:cubicBezTo>
                <a:cubicBezTo>
                  <a:pt x="2551645" y="1916170"/>
                  <a:pt x="2607546" y="1884345"/>
                  <a:pt x="2635498" y="1832627"/>
                </a:cubicBezTo>
                <a:cubicBezTo>
                  <a:pt x="3098693" y="1034974"/>
                  <a:pt x="3098693" y="1034974"/>
                  <a:pt x="3098693" y="1034974"/>
                </a:cubicBezTo>
                <a:cubicBezTo>
                  <a:pt x="3128641" y="985246"/>
                  <a:pt x="3128641" y="921593"/>
                  <a:pt x="3098693" y="871863"/>
                </a:cubicBezTo>
                <a:cubicBezTo>
                  <a:pt x="3040794" y="772157"/>
                  <a:pt x="2990132" y="684914"/>
                  <a:pt x="2945803" y="608576"/>
                </a:cubicBezTo>
                <a:lnTo>
                  <a:pt x="2923422" y="570035"/>
                </a:lnTo>
                <a:lnTo>
                  <a:pt x="3027104" y="570035"/>
                </a:lnTo>
                <a:cubicBezTo>
                  <a:pt x="3349535" y="570035"/>
                  <a:pt x="3865424" y="570035"/>
                  <a:pt x="4690846" y="570035"/>
                </a:cubicBezTo>
                <a:cubicBezTo>
                  <a:pt x="4828714" y="570035"/>
                  <a:pt x="4961827" y="645819"/>
                  <a:pt x="5028384" y="768968"/>
                </a:cubicBezTo>
                <a:cubicBezTo>
                  <a:pt x="5028384" y="768968"/>
                  <a:pt x="5028384" y="768968"/>
                  <a:pt x="6131323" y="2668304"/>
                </a:cubicBezTo>
                <a:cubicBezTo>
                  <a:pt x="6202634" y="2786717"/>
                  <a:pt x="6202634" y="2938285"/>
                  <a:pt x="6131323" y="3056698"/>
                </a:cubicBezTo>
                <a:cubicBezTo>
                  <a:pt x="6131323" y="3056698"/>
                  <a:pt x="6131323" y="3056698"/>
                  <a:pt x="5028384" y="4956035"/>
                </a:cubicBezTo>
                <a:cubicBezTo>
                  <a:pt x="4961827" y="5079184"/>
                  <a:pt x="4828714" y="5154967"/>
                  <a:pt x="4690846" y="5154967"/>
                </a:cubicBezTo>
                <a:cubicBezTo>
                  <a:pt x="4690846" y="5154967"/>
                  <a:pt x="4690846" y="5154967"/>
                  <a:pt x="2489721" y="5154967"/>
                </a:cubicBezTo>
                <a:cubicBezTo>
                  <a:pt x="2347099" y="5154967"/>
                  <a:pt x="2218739" y="5079184"/>
                  <a:pt x="2147429" y="4956035"/>
                </a:cubicBezTo>
                <a:cubicBezTo>
                  <a:pt x="2147429" y="4956035"/>
                  <a:pt x="2147429" y="4956035"/>
                  <a:pt x="1049243" y="3056698"/>
                </a:cubicBezTo>
                <a:cubicBezTo>
                  <a:pt x="977932" y="2938285"/>
                  <a:pt x="977932" y="2786717"/>
                  <a:pt x="1049243" y="2668304"/>
                </a:cubicBezTo>
                <a:cubicBezTo>
                  <a:pt x="1049243" y="2668304"/>
                  <a:pt x="1049243" y="2668304"/>
                  <a:pt x="1457007" y="1963067"/>
                </a:cubicBezTo>
                <a:lnTo>
                  <a:pt x="1491373" y="1903634"/>
                </a:lnTo>
                <a:lnTo>
                  <a:pt x="1490164" y="1903127"/>
                </a:lnTo>
                <a:cubicBezTo>
                  <a:pt x="1465456" y="1888705"/>
                  <a:pt x="1444493" y="1867820"/>
                  <a:pt x="1429519" y="1841960"/>
                </a:cubicBezTo>
                <a:cubicBezTo>
                  <a:pt x="1429519" y="1841960"/>
                  <a:pt x="1429519" y="1841960"/>
                  <a:pt x="968320" y="1044307"/>
                </a:cubicBezTo>
                <a:cubicBezTo>
                  <a:pt x="938371" y="994579"/>
                  <a:pt x="938371" y="930926"/>
                  <a:pt x="968320" y="881196"/>
                </a:cubicBezTo>
                <a:cubicBezTo>
                  <a:pt x="968320" y="881196"/>
                  <a:pt x="968320" y="881196"/>
                  <a:pt x="1429519" y="83546"/>
                </a:cubicBezTo>
                <a:cubicBezTo>
                  <a:pt x="1459466" y="31828"/>
                  <a:pt x="1513373" y="0"/>
                  <a:pt x="1573268" y="0"/>
                </a:cubicBezTo>
                <a:close/>
              </a:path>
            </a:pathLst>
          </a:custGeom>
          <a:solidFill>
            <a:schemeClr val="tx1">
              <a:lumMod val="50000"/>
              <a:lumOff val="50000"/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120848B-B2B4-45BE-A961-AEC0B06CF41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59916"/>
          <a:stretch/>
        </p:blipFill>
        <p:spPr>
          <a:xfrm>
            <a:off x="6854891" y="1715881"/>
            <a:ext cx="3203509" cy="3426237"/>
          </a:xfrm>
          <a:prstGeom prst="rect">
            <a:avLst/>
          </a:prstGeom>
        </p:spPr>
      </p:pic>
      <p:sp>
        <p:nvSpPr>
          <p:cNvPr id="4" name="Subtitle 3"/>
          <p:cNvSpPr>
            <a:spLocks noGrp="1"/>
          </p:cNvSpPr>
          <p:nvPr>
            <p:ph type="subTitle" idx="1"/>
          </p:nvPr>
        </p:nvSpPr>
        <p:spPr>
          <a:xfrm>
            <a:off x="1245686" y="648614"/>
            <a:ext cx="8534400" cy="1752600"/>
          </a:xfrm>
        </p:spPr>
        <p:txBody>
          <a:bodyPr/>
          <a:lstStyle/>
          <a:p>
            <a:endParaRPr lang="en-US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TITLE PAGE</a:t>
            </a:r>
            <a:endParaRPr lang="en-IN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331286" y="-526757"/>
            <a:ext cx="10363200" cy="2076450"/>
          </a:xfrm>
        </p:spPr>
        <p:txBody>
          <a:bodyPr/>
          <a:lstStyle/>
          <a:p>
            <a:r>
              <a:rPr lang="en-US" sz="4000" b="1" dirty="0">
                <a:solidFill>
                  <a:schemeClr val="tx2"/>
                </a:solidFill>
                <a:latin typeface="Garamond" panose="02020404030301010803" pitchFamily="18" charset="0"/>
              </a:rPr>
              <a:t>SMART INDIA HACKATHON 2026</a:t>
            </a:r>
            <a:endParaRPr lang="en-IN" sz="4000" b="1" dirty="0">
              <a:solidFill>
                <a:schemeClr val="tx2"/>
              </a:solidFill>
              <a:latin typeface="Garamond" panose="02020404030301010803" pitchFamily="18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331286" y="1840476"/>
            <a:ext cx="11467424" cy="43788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Problem Statement ID –SIH26117</a:t>
            </a:r>
          </a:p>
          <a:p>
            <a:pPr marL="285750" indent="-285750" algn="just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Problem Statement Title-</a:t>
            </a:r>
            <a:r>
              <a:rPr lang="en-IN" sz="2400" dirty="0"/>
              <a:t>Sovereign On-Premise Agentic AI Workbench using Open-Weight Multimodal LLMs for Confidential Industrial Work</a:t>
            </a:r>
            <a:endParaRPr lang="en-US" sz="32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 algn="just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Theme- </a:t>
            </a:r>
            <a:r>
              <a:rPr lang="en-IN" sz="2800" dirty="0"/>
              <a:t>Smart Automation</a:t>
            </a:r>
            <a:endParaRPr lang="en-US" sz="28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PS Category- 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Software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Team ID-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238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Team Name (Registered on portal)-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AEGIS</a:t>
            </a:r>
            <a:endParaRPr lang="en-IN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5361" name="Title 1"/>
          <p:cNvSpPr>
            <a:spLocks noGrp="1"/>
          </p:cNvSpPr>
          <p:nvPr>
            <p:ph type="title"/>
          </p:nvPr>
        </p:nvSpPr>
        <p:spPr>
          <a:xfrm>
            <a:off x="703115" y="413690"/>
            <a:ext cx="9597088" cy="650147"/>
          </a:xfrm>
        </p:spPr>
        <p:txBody>
          <a:bodyPr/>
          <a:lstStyle/>
          <a:p>
            <a:pPr eaLnBrk="1" hangingPunct="1"/>
            <a:br>
              <a:rPr lang="en-US" sz="20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</a:br>
            <a:r>
              <a:rPr lang="en-US" sz="20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IDEA TITLE: </a:t>
            </a:r>
            <a:r>
              <a:rPr lang="en-US" sz="2000" b="1" dirty="0"/>
              <a:t>Sovereign Agentic AI Workbench</a:t>
            </a:r>
            <a:br>
              <a:rPr lang="en-IN" sz="2000" b="1" dirty="0"/>
            </a:br>
            <a:endParaRPr lang="en-US" sz="2000" b="1" dirty="0">
              <a:latin typeface="Times New Roman" panose="02020603050405020304" pitchFamily="18" charset="0"/>
              <a:ea typeface="ＭＳ Ｐゴシック" pitchFamily="1" charset="-128"/>
              <a:cs typeface="Times New Roman" panose="02020603050405020304" pitchFamily="18" charset="0"/>
            </a:endParaRPr>
          </a:p>
        </p:txBody>
      </p:sp>
      <p:sp>
        <p:nvSpPr>
          <p:cNvPr id="15362" name="TextBox 8"/>
          <p:cNvSpPr txBox="1">
            <a:spLocks noChangeArrowheads="1"/>
          </p:cNvSpPr>
          <p:nvPr/>
        </p:nvSpPr>
        <p:spPr bwMode="auto">
          <a:xfrm>
            <a:off x="329773" y="1013514"/>
            <a:ext cx="11577092" cy="560153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indent="-342900">
              <a:buFont typeface="Wingdings" panose="05000000000000000000" pitchFamily="2" charset="2"/>
              <a:buChar char="v"/>
            </a:pPr>
            <a:r>
              <a:rPr lang="en-US" b="1" u="sng" dirty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Problem </a:t>
            </a:r>
            <a:endParaRPr lang="en-US" sz="3200" u="sng" dirty="0">
              <a:solidFill>
                <a:schemeClr val="tx2"/>
              </a:solidFill>
              <a:latin typeface="Arial" pitchFamily="34" charset="0"/>
              <a:cs typeface="Arial" pitchFamily="34" charset="0"/>
            </a:endParaRP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IN" sz="1200" b="1" dirty="0"/>
              <a:t>Core gap:</a:t>
            </a:r>
            <a:r>
              <a:rPr lang="en-IN" sz="1200" dirty="0"/>
              <a:t> Confidential engineering knowledge (manuals, SOPs, scanned inspection reports, P&amp;IDs, multi-revision records) can't go to public AI, so high-value work stays manual and fragmented.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IN" sz="1200" b="1" dirty="0"/>
              <a:t>Shadow AI is already happening:</a:t>
            </a:r>
            <a:r>
              <a:rPr lang="en-IN" sz="1200" dirty="0"/>
              <a:t> In PagerDuty's survey of 1,250 professionals, two-thirds used AI at work believing it was unpermitted and 88% shared work information with public tools. 31% shared financial data or confidential documents. </a:t>
            </a:r>
            <a:r>
              <a:rPr lang="en-IN" sz="1200" dirty="0" err="1"/>
              <a:t>LayerX</a:t>
            </a:r>
            <a:r>
              <a:rPr lang="en-IN" sz="1200" dirty="0"/>
              <a:t> telemetry shows 77% of users paste data into GenAI tools, largely via unmanaged accounts.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IN" sz="1200" b="1" dirty="0"/>
              <a:t>Scaling gap:</a:t>
            </a:r>
            <a:r>
              <a:rPr lang="en-IN" sz="1200" dirty="0"/>
              <a:t> McKinsey (2025) found 88% regular AI use, but nearly two-thirds haven't begun scaling and only 23% are scaling agents. Deloitte reports about one in five has a mature agent-governance model.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IN" sz="1200" b="1" dirty="0"/>
              <a:t>Why generic approaches fail:</a:t>
            </a:r>
            <a:r>
              <a:rPr lang="en-IN" sz="1200" dirty="0"/>
              <a:t> 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IN" sz="1200" dirty="0"/>
              <a:t>A relevant document is not automatically authoritative, current, or authorized.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IN" sz="1200" dirty="0"/>
              <a:t>Meaning lives in structure, topology, and revisions.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IN" sz="1200" dirty="0"/>
              <a:t>Plausible output is not correct output.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IN" sz="1200" dirty="0"/>
              <a:t>Local deployment is not secure by itself (prompt injection, malicious documents, tool misuse, sandbox escape, supply chain).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IN" sz="1200" b="1" dirty="0"/>
              <a:t>Domain proof points:</a:t>
            </a:r>
            <a:r>
              <a:rPr lang="en-IN" sz="1200" dirty="0"/>
              <a:t> 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IN" sz="1200" dirty="0"/>
              <a:t>The Shell/Huracán change-impact study reached document-level F1 0.776 (recall 0.904, precision 0.706) and still missed indirect dependencies.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IN" sz="1200" dirty="0"/>
              <a:t>The INL safety-analysis case showed a roughly 50% SME-estimated effort reduction, alongside omissions and cross-section validation failures.</a:t>
            </a:r>
          </a:p>
          <a:p>
            <a:pPr lvl="1"/>
            <a:endParaRPr lang="en-IN" sz="1600" dirty="0"/>
          </a:p>
          <a:p>
            <a:pPr lvl="0"/>
            <a:r>
              <a:rPr lang="en-IN" b="1" u="sng" dirty="0">
                <a:solidFill>
                  <a:schemeClr val="tx2"/>
                </a:solidFill>
              </a:rPr>
              <a:t>Solution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IN" sz="1200" b="1" dirty="0"/>
              <a:t>What it is:</a:t>
            </a:r>
            <a:r>
              <a:rPr lang="en-IN" sz="1200" dirty="0"/>
              <a:t> A self-hosted execution environment, not a chatbot, RAG stack, or search tool. Its loop is Task → Evidence → Understand → Execute → Verify → Produce → Trace.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IN" sz="1200" b="1" dirty="0"/>
              <a:t>Founding principle:</a:t>
            </a:r>
            <a:r>
              <a:rPr lang="en-IN" sz="1200" dirty="0"/>
              <a:t> AI performs bounded knowledge work; organizational authority stays outside the AI.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IN" sz="1200" b="1" dirty="0"/>
              <a:t>MVP workflows:</a:t>
            </a:r>
            <a:r>
              <a:rPr lang="en-IN" sz="1200" dirty="0"/>
              <a:t> W3 Organizational Knowledge Investigation, W1 Inspection/Technical Report Analysis, W2 P&amp;ID/Engineering Drawing Analysis, W4 Approval-Artifact Generation. W5 Controlled Code-Assisted Analysis is conditional.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IN" sz="1200" b="1" dirty="0"/>
              <a:t>Beachhead:</a:t>
            </a:r>
            <a:r>
              <a:rPr lang="en-IN" sz="1200" dirty="0"/>
              <a:t> Refinery and process-industry engineering, then PSUs, defence-linked manufacturing, and government technical organizations. The primary user is the technical engineer.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IN" sz="1200" b="1" dirty="0"/>
              <a:t>Differentiation:</a:t>
            </a:r>
            <a:r>
              <a:rPr lang="en-IN" sz="1200" dirty="0"/>
              <a:t> It is the combination of sovereign execution, evidence governance, multimodal technical understanding, bounded agency, controlled tools, verification, provenance, and audit. Palantir, IBM, GitLab, Onyx, </a:t>
            </a:r>
            <a:r>
              <a:rPr lang="en-IN" sz="1200" dirty="0" err="1"/>
              <a:t>RAGFlow</a:t>
            </a:r>
            <a:r>
              <a:rPr lang="en-IN" sz="1200" dirty="0"/>
              <a:t>, and NVIDIA each cover layers. No single public product was found spanning all of them on a single node, and your R3 research states that as an inference.</a:t>
            </a:r>
          </a:p>
          <a:p>
            <a:pPr lvl="0"/>
            <a:endParaRPr lang="en-IN" sz="1600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 smtClean="0">
                <a:solidFill>
                  <a:schemeClr val="bg1"/>
                </a:solidFill>
              </a:rPr>
              <a:pPr/>
              <a:t>2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@SIH Idea submission- Template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0" name="Oval 9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AEGIS</a:t>
            </a:r>
            <a:endParaRPr lang="en-IN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6353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20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TECHNICAL APPROACH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>
                <a:solidFill>
                  <a:schemeClr val="bg1"/>
                </a:solidFill>
              </a:rPr>
              <a:pPr/>
              <a:t>3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@SIH Idea submission- Template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1" name="Oval 10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AEGIS</a:t>
            </a:r>
            <a:endParaRPr lang="en-IN" dirty="0"/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4B0AF499-9383-E31E-1887-438944CAAD74}"/>
              </a:ext>
            </a:extLst>
          </p:cNvPr>
          <p:cNvSpPr txBox="1"/>
          <p:nvPr/>
        </p:nvSpPr>
        <p:spPr>
          <a:xfrm>
            <a:off x="162065" y="1144500"/>
            <a:ext cx="5314504" cy="52629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lvl="0" indent="-171450" algn="just">
              <a:buFont typeface="Arial" panose="020B0604020202020204" pitchFamily="34" charset="0"/>
              <a:buChar char="•"/>
            </a:pPr>
            <a:r>
              <a:rPr lang="en-IN" sz="1200" b="1" dirty="0"/>
              <a:t>Architecture:</a:t>
            </a:r>
            <a:r>
              <a:rPr lang="en-IN" sz="1200" dirty="0"/>
              <a:t> Modular single-node with protected execution boundaries (ADR-01). It has 24 components across 10 logical layers, with strict control-plane/data-plane separation for authority containment. Monolith, full microservices, and pure event-sourcing were each evaluated and rejected as the organizing principle.</a:t>
            </a:r>
          </a:p>
          <a:p>
            <a:pPr marL="171450" lvl="0" indent="-171450" algn="just">
              <a:buFont typeface="Arial" panose="020B0604020202020204" pitchFamily="34" charset="0"/>
              <a:buChar char="•"/>
            </a:pPr>
            <a:r>
              <a:rPr lang="en-IN" sz="1200" b="1" dirty="0"/>
              <a:t>Invariants:</a:t>
            </a:r>
            <a:r>
              <a:rPr lang="en-IN" sz="1200" dirty="0"/>
              <a:t> 12 architectural invariants, including: </a:t>
            </a:r>
          </a:p>
          <a:p>
            <a:pPr marL="628650" lvl="1" indent="-171450" algn="just">
              <a:buFont typeface="Arial" panose="020B0604020202020204" pitchFamily="34" charset="0"/>
              <a:buChar char="•"/>
            </a:pPr>
            <a:r>
              <a:rPr lang="en-IN" sz="1200" dirty="0"/>
              <a:t>AI output never creates authority.</a:t>
            </a:r>
          </a:p>
          <a:p>
            <a:pPr marL="628650" lvl="1" indent="-171450" algn="just">
              <a:buFont typeface="Arial" panose="020B0604020202020204" pitchFamily="34" charset="0"/>
              <a:buChar char="•"/>
            </a:pPr>
            <a:r>
              <a:rPr lang="en-IN" sz="1200" dirty="0"/>
              <a:t>LLM "done" ≠ system completion.</a:t>
            </a:r>
          </a:p>
          <a:p>
            <a:pPr marL="628650" lvl="1" indent="-171450" algn="just">
              <a:buFont typeface="Arial" panose="020B0604020202020204" pitchFamily="34" charset="0"/>
              <a:buChar char="•"/>
            </a:pPr>
            <a:r>
              <a:rPr lang="en-IN" sz="1200" dirty="0"/>
              <a:t>Generation ≠ verification.</a:t>
            </a:r>
          </a:p>
          <a:p>
            <a:pPr marL="628650" lvl="1" indent="-171450" algn="just">
              <a:buFont typeface="Arial" panose="020B0604020202020204" pitchFamily="34" charset="0"/>
              <a:buChar char="•"/>
            </a:pPr>
            <a:r>
              <a:rPr lang="en-IN" sz="1200" dirty="0"/>
              <a:t>Code execution ≠ host execution.</a:t>
            </a:r>
          </a:p>
          <a:p>
            <a:pPr marL="628650" lvl="1" indent="-171450" algn="just">
              <a:buFont typeface="Arial" panose="020B0604020202020204" pitchFamily="34" charset="0"/>
              <a:buChar char="•"/>
            </a:pPr>
            <a:r>
              <a:rPr lang="en-IN" sz="1200" dirty="0"/>
              <a:t>Application intent ≠ network enforcement.</a:t>
            </a:r>
          </a:p>
          <a:p>
            <a:pPr marL="171450" lvl="0" indent="-171450" algn="just">
              <a:buFont typeface="Arial" panose="020B0604020202020204" pitchFamily="34" charset="0"/>
              <a:buChar char="•"/>
            </a:pPr>
            <a:r>
              <a:rPr lang="en-IN" sz="1200" b="1" dirty="0"/>
              <a:t>Evidence-governed knowledge layer:</a:t>
            </a:r>
            <a:r>
              <a:rPr lang="en-IN" sz="1200" dirty="0"/>
              <a:t> </a:t>
            </a:r>
          </a:p>
          <a:p>
            <a:pPr marL="628650" lvl="1" indent="-171450" algn="just">
              <a:buFont typeface="Arial" panose="020B0604020202020204" pitchFamily="34" charset="0"/>
              <a:buChar char="•"/>
            </a:pPr>
            <a:r>
              <a:rPr lang="en-IN" sz="1200" dirty="0"/>
              <a:t>The chain is Source → Document → Revision → Region → Evidence → Claim → Artifact, with immutable, hash-addressed sources.</a:t>
            </a:r>
          </a:p>
          <a:p>
            <a:pPr marL="628650" lvl="1" indent="-171450" algn="just">
              <a:buFont typeface="Arial" panose="020B0604020202020204" pitchFamily="34" charset="0"/>
              <a:buChar char="•"/>
            </a:pPr>
            <a:r>
              <a:rPr lang="en-IN" sz="1200" dirty="0"/>
              <a:t>Six evidence states: SUFFICIENT, INSUFFICIENT, CONFLICTED, STALE, UNAUTHORIZED, UNVERIFIABLE.</a:t>
            </a:r>
          </a:p>
          <a:p>
            <a:pPr marL="628650" lvl="1" indent="-171450" algn="just">
              <a:buFont typeface="Arial" panose="020B0604020202020204" pitchFamily="34" charset="0"/>
              <a:buChar char="•"/>
            </a:pPr>
            <a:r>
              <a:rPr lang="en-IN" sz="1200" dirty="0"/>
              <a:t>Sufficiency is a 10-dimension vector, not top-k.</a:t>
            </a:r>
          </a:p>
          <a:p>
            <a:pPr marL="628650" lvl="1" indent="-171450" algn="just">
              <a:buFont typeface="Arial" panose="020B0604020202020204" pitchFamily="34" charset="0"/>
              <a:buChar char="•"/>
            </a:pPr>
            <a:r>
              <a:rPr lang="en-IN" sz="1200" dirty="0"/>
              <a:t>Retrieval is authorization-first and hybrid (lexical, dense, structural, visual, reranked).</a:t>
            </a:r>
          </a:p>
          <a:p>
            <a:pPr marL="628650" lvl="1" indent="-171450" algn="just">
              <a:buFont typeface="Arial" panose="020B0604020202020204" pitchFamily="34" charset="0"/>
              <a:buChar char="•"/>
            </a:pPr>
            <a:r>
              <a:rPr lang="en-IN" sz="1200" dirty="0"/>
              <a:t>A context compiler builds the model context.</a:t>
            </a:r>
          </a:p>
          <a:p>
            <a:pPr marL="171450" lvl="0" indent="-171450" algn="just">
              <a:buFont typeface="Arial" panose="020B0604020202020204" pitchFamily="34" charset="0"/>
              <a:buChar char="•"/>
            </a:pPr>
            <a:r>
              <a:rPr lang="en-IN" sz="1200" b="1" dirty="0"/>
              <a:t>P&amp;ID understanding:</a:t>
            </a:r>
            <a:r>
              <a:rPr lang="en-IN" sz="1200" dirty="0"/>
              <a:t> The representation is multimodal evidence plus a structured engineering graph, not image-only and not OCR-only. Relations such as CONNECTS_TO, FEEDS, and CONTROLLED_BY each carry page, bounding region, and extraction provenance. The system abstains when topology, symbols, or revision can't be established, and the engineer stays the authority.</a:t>
            </a:r>
          </a:p>
          <a:p>
            <a:pPr marL="171450" indent="-171450" algn="just">
              <a:buFont typeface="Arial" panose="020B0604020202020204" pitchFamily="34" charset="0"/>
              <a:buChar char="•"/>
            </a:pPr>
            <a:r>
              <a:rPr lang="en-IN" sz="1200" b="1" dirty="0"/>
              <a:t>Reference deployment:</a:t>
            </a:r>
            <a:r>
              <a:rPr lang="en-IN" sz="1200" dirty="0"/>
              <a:t> One hardened Linux host with 1× 48 GB-class GPU, 128 GB ECC RAM, and </a:t>
            </a:r>
            <a:r>
              <a:rPr lang="en-IN" sz="1200" dirty="0" err="1"/>
              <a:t>NVMe</a:t>
            </a:r>
            <a:r>
              <a:rPr lang="en-IN" sz="1200" dirty="0"/>
              <a:t> storage. It has no Kubernetes or service mesh, and internet access is default-deny.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BF944E7-EC88-78B6-3C2E-D2A897FA7D22}"/>
              </a:ext>
            </a:extLst>
          </p:cNvPr>
          <p:cNvSpPr txBox="1"/>
          <p:nvPr/>
        </p:nvSpPr>
        <p:spPr>
          <a:xfrm>
            <a:off x="5460916" y="775168"/>
            <a:ext cx="6553367" cy="56323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lvl="0" indent="-171450" algn="just">
              <a:buFont typeface="Arial" panose="020B0604020202020204" pitchFamily="34" charset="0"/>
              <a:buChar char="•"/>
            </a:pPr>
            <a:r>
              <a:rPr lang="en-IN" sz="1200" b="1" dirty="0"/>
              <a:t>Bounded agentic execution:</a:t>
            </a:r>
            <a:r>
              <a:rPr lang="en-IN" sz="1200" dirty="0"/>
              <a:t> </a:t>
            </a:r>
          </a:p>
          <a:p>
            <a:pPr marL="628650" lvl="1" indent="-171450" algn="just">
              <a:buFont typeface="Arial" panose="020B0604020202020204" pitchFamily="34" charset="0"/>
              <a:buChar char="•"/>
            </a:pPr>
            <a:r>
              <a:rPr lang="en-IN" sz="1200" dirty="0"/>
              <a:t>Tool calls are PROPOSED_ACTIONs authorized by an external deterministic policy engine.</a:t>
            </a:r>
          </a:p>
          <a:p>
            <a:pPr marL="628650" lvl="1" indent="-171450" algn="just">
              <a:buFont typeface="Arial" panose="020B0604020202020204" pitchFamily="34" charset="0"/>
              <a:buChar char="•"/>
            </a:pPr>
            <a:r>
              <a:rPr lang="en-IN" sz="1200" dirty="0"/>
              <a:t>Planning uses a constrained workflow grammar (RETRIEVE, PARSE, COMPARE, CALCULATE, VERIFY, ESCALATE, ASK, CREATE_ARTIFACT, REQUEST_APPROVAL, STOP) over typed tools in a capability graph.</a:t>
            </a:r>
          </a:p>
          <a:p>
            <a:pPr marL="628650" lvl="1" indent="-171450" algn="just">
              <a:buFont typeface="Arial" panose="020B0604020202020204" pitchFamily="34" charset="0"/>
              <a:buChar char="•"/>
            </a:pPr>
            <a:r>
              <a:rPr lang="en-IN" sz="1200" dirty="0"/>
              <a:t>Completion is a deterministic predicate, with idempotency keys, effect receipts, bounded correction loops, and an emergency stop outside the agent.</a:t>
            </a:r>
          </a:p>
          <a:p>
            <a:pPr marL="171450" lvl="0" indent="-171450" algn="just">
              <a:buFont typeface="Arial" panose="020B0604020202020204" pitchFamily="34" charset="0"/>
              <a:buChar char="•"/>
            </a:pPr>
            <a:r>
              <a:rPr lang="en-IN" sz="1200" b="1" dirty="0"/>
              <a:t>Model layer:</a:t>
            </a:r>
            <a:r>
              <a:rPr lang="en-IN" sz="1200" dirty="0"/>
              <a:t> Capability abstraction keeps the system model-agnostic. Hierarchical routing runs task → capability → step → verification-driven escalation, as a resource-aware admission controller (ACCEPT/QUEUE/DEGRADE/ESCALATE/REJECT). The candidate reference portfolio is Qwen3.5-9B and 4B, Qwen3-Embedding-0.6B, Qwen3-Reranker-0.6B, </a:t>
            </a:r>
            <a:r>
              <a:rPr lang="en-IN" sz="1200" dirty="0" err="1"/>
              <a:t>Docling</a:t>
            </a:r>
            <a:r>
              <a:rPr lang="en-IN" sz="1200" dirty="0"/>
              <a:t> with </a:t>
            </a:r>
            <a:r>
              <a:rPr lang="en-IN" sz="1200" dirty="0" err="1"/>
              <a:t>PaddleOCR</a:t>
            </a:r>
            <a:r>
              <a:rPr lang="en-IN" sz="1200" dirty="0"/>
              <a:t>, and </a:t>
            </a:r>
            <a:r>
              <a:rPr lang="en-IN" sz="1200" dirty="0" err="1"/>
              <a:t>vLLM</a:t>
            </a:r>
            <a:r>
              <a:rPr lang="en-IN" sz="1200" dirty="0"/>
              <a:t>, with llama.cpp and </a:t>
            </a:r>
            <a:r>
              <a:rPr lang="en-IN" sz="1200" dirty="0" err="1"/>
              <a:t>SGLang</a:t>
            </a:r>
            <a:r>
              <a:rPr lang="en-IN" sz="1200" dirty="0"/>
              <a:t> as alternatives. Present these as "preferred, validation required," not "selected."</a:t>
            </a:r>
          </a:p>
          <a:p>
            <a:pPr marL="171450" lvl="0" indent="-171450" algn="just">
              <a:buFont typeface="Arial" panose="020B0604020202020204" pitchFamily="34" charset="0"/>
              <a:buChar char="•"/>
            </a:pPr>
            <a:r>
              <a:rPr lang="en-IN" sz="1200" b="1" dirty="0"/>
              <a:t>Layered verification:</a:t>
            </a:r>
            <a:r>
              <a:rPr lang="en-IN" sz="1200" dirty="0"/>
              <a:t> Deterministic checks (schema, units, numeric </a:t>
            </a:r>
            <a:r>
              <a:rPr lang="en-IN" sz="1200" dirty="0" err="1"/>
              <a:t>recomputation</a:t>
            </a:r>
            <a:r>
              <a:rPr lang="en-IN" sz="1200" dirty="0"/>
              <a:t>, citations, revision, ACL, graph constraints), then independent semantic verification, then a human gate. Artifacts move GENERATED → CHECKED → VERIFIED → POLICY-EVALUATED → AUTHORIZED → HUMAN-APPROVED → RELEASED. Output is built by programmatic deterministic generation; LLM-only artifact generation was rejected.</a:t>
            </a:r>
          </a:p>
          <a:p>
            <a:pPr marL="171450" lvl="0" indent="-171450" algn="just">
              <a:buFont typeface="Arial" panose="020B0604020202020204" pitchFamily="34" charset="0"/>
              <a:buChar char="•"/>
            </a:pPr>
            <a:r>
              <a:rPr lang="en-IN" sz="1200" b="1" dirty="0"/>
              <a:t>Technically demonstrable sovereignty:</a:t>
            </a:r>
            <a:r>
              <a:rPr lang="en-IN" sz="1200" dirty="0"/>
              <a:t> </a:t>
            </a:r>
          </a:p>
          <a:p>
            <a:pPr marL="628650" lvl="1" indent="-171450" algn="just">
              <a:buFont typeface="Arial" panose="020B0604020202020204" pitchFamily="34" charset="0"/>
              <a:buChar char="•"/>
            </a:pPr>
            <a:r>
              <a:rPr lang="en-IN" sz="1200" dirty="0"/>
              <a:t>Zero-egress is enforced in six layers, from application policy through process restrictions, network namespace/socket controls, host firewall, and enterprise firewall to the physical boundary.</a:t>
            </a:r>
          </a:p>
          <a:p>
            <a:pPr marL="628650" lvl="1" indent="-171450" algn="just">
              <a:buFont typeface="Arial" panose="020B0604020202020204" pitchFamily="34" charset="0"/>
              <a:buChar char="•"/>
            </a:pPr>
            <a:r>
              <a:rPr lang="en-IN" sz="1200" dirty="0"/>
              <a:t>It is verified with negative controls (HTTPS, DNS, direct IP, IPv6, proxy, package manager, model download, telemetry, sandbox outbound), and each must come out BLOCKED + OBSERVED + AUDITED.</a:t>
            </a:r>
          </a:p>
          <a:p>
            <a:pPr marL="628650" lvl="1" indent="-171450" algn="just">
              <a:buFont typeface="Arial" panose="020B0604020202020204" pitchFamily="34" charset="0"/>
              <a:buChar char="•"/>
            </a:pPr>
            <a:r>
              <a:rPr lang="en-IN" sz="1200" dirty="0"/>
              <a:t>Generated code runs in a Firecracker </a:t>
            </a:r>
            <a:r>
              <a:rPr lang="en-IN" sz="1200" dirty="0" err="1"/>
              <a:t>microVM</a:t>
            </a:r>
            <a:r>
              <a:rPr lang="en-IN" sz="1200" dirty="0"/>
              <a:t> (</a:t>
            </a:r>
            <a:r>
              <a:rPr lang="en-IN" sz="1200" dirty="0" err="1"/>
              <a:t>gVisor</a:t>
            </a:r>
            <a:r>
              <a:rPr lang="en-IN" sz="1200" dirty="0"/>
              <a:t> as the alternative); Docker-only was rejected.</a:t>
            </a:r>
          </a:p>
          <a:p>
            <a:pPr marL="628650" lvl="1" indent="-171450" algn="just">
              <a:buFont typeface="Arial" panose="020B0604020202020204" pitchFamily="34" charset="0"/>
              <a:buChar char="•"/>
            </a:pPr>
            <a:r>
              <a:rPr lang="en-IN" sz="1200" dirty="0"/>
              <a:t>The supply chain uses signed manifests, SBOM/AIBOM/VEX, quarantine-then-promote, and signed offline updates with rollback.</a:t>
            </a:r>
          </a:p>
          <a:p>
            <a:pPr marL="628650" lvl="1" indent="-171450" algn="just">
              <a:buFont typeface="Arial" panose="020B0604020202020204" pitchFamily="34" charset="0"/>
              <a:buChar char="•"/>
            </a:pPr>
            <a:r>
              <a:rPr lang="en-IN" sz="1200" dirty="0"/>
              <a:t>Audit is tamper-evident, and administrators can't silently erase their own privileged activity.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20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FEASIBILITY AND VIABILITY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83966" y="1107667"/>
            <a:ext cx="5481958" cy="50783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just"/>
            <a:r>
              <a:rPr lang="en-IN" sz="1200" b="1" dirty="0"/>
              <a:t>Technical feasibility</a:t>
            </a:r>
            <a:endParaRPr lang="en-IN" sz="1200" dirty="0"/>
          </a:p>
          <a:p>
            <a:pPr marL="171450" lvl="0" indent="-171450" algn="just">
              <a:buFont typeface="Arial" panose="020B0604020202020204" pitchFamily="34" charset="0"/>
              <a:buChar char="•"/>
            </a:pPr>
            <a:r>
              <a:rPr lang="en-IN" sz="1200" b="1" dirty="0"/>
              <a:t>Model basis:</a:t>
            </a:r>
            <a:r>
              <a:rPr lang="en-IN" sz="1200" dirty="0"/>
              <a:t> Qwen3.5-9B is open-weight (Apache 2.0) with native vision and 262,144-token context. Its model-card scores are MMMU 78.4, </a:t>
            </a:r>
            <a:r>
              <a:rPr lang="en-IN" sz="1200" dirty="0" err="1"/>
              <a:t>OCRBench</a:t>
            </a:r>
            <a:r>
              <a:rPr lang="en-IN" sz="1200" dirty="0"/>
              <a:t> 89.2, and </a:t>
            </a:r>
            <a:r>
              <a:rPr lang="en-IN" sz="1200" dirty="0" err="1"/>
              <a:t>OmniDocBench</a:t>
            </a:r>
            <a:r>
              <a:rPr lang="en-IN" sz="1200" dirty="0"/>
              <a:t> 87.7. Label these "vendor-reported.“</a:t>
            </a:r>
          </a:p>
          <a:p>
            <a:pPr marL="171450" lvl="0" indent="-171450" algn="just">
              <a:buFont typeface="Arial" panose="020B0604020202020204" pitchFamily="34" charset="0"/>
              <a:buChar char="•"/>
            </a:pPr>
            <a:endParaRPr lang="en-IN" sz="1200" dirty="0"/>
          </a:p>
          <a:p>
            <a:pPr marL="171450" lvl="0" indent="-171450" algn="just">
              <a:buFont typeface="Arial" panose="020B0604020202020204" pitchFamily="34" charset="0"/>
              <a:buChar char="•"/>
            </a:pPr>
            <a:r>
              <a:rPr lang="en-IN" sz="1200" b="1" dirty="0"/>
              <a:t>Data for R&amp;D:</a:t>
            </a:r>
            <a:r>
              <a:rPr lang="en-IN" sz="1200" dirty="0"/>
              <a:t> PID2Graph (about 9.3 GB) and </a:t>
            </a:r>
            <a:r>
              <a:rPr lang="en-IN" sz="1200" dirty="0" err="1"/>
              <a:t>SynthPID</a:t>
            </a:r>
            <a:r>
              <a:rPr lang="en-IN" sz="1200" dirty="0"/>
              <a:t> (665 synthetic P&amp;IDs, 63.8% edge </a:t>
            </a:r>
            <a:r>
              <a:rPr lang="en-IN" sz="1200" dirty="0" err="1"/>
              <a:t>mAP</a:t>
            </a:r>
            <a:r>
              <a:rPr lang="en-IN" sz="1200" dirty="0"/>
              <a:t> from synthetic data alone versus about 33% for a template baseline) are enough for development and regression testing. Production qualification uses customer-local data.</a:t>
            </a:r>
          </a:p>
          <a:p>
            <a:pPr marL="171450" lvl="0" indent="-171450" algn="just">
              <a:buFont typeface="Arial" panose="020B0604020202020204" pitchFamily="34" charset="0"/>
              <a:buChar char="•"/>
            </a:pPr>
            <a:endParaRPr lang="en-IN" sz="1200" dirty="0"/>
          </a:p>
          <a:p>
            <a:pPr marL="171450" lvl="0" indent="-171450" algn="just">
              <a:buFont typeface="Arial" panose="020B0604020202020204" pitchFamily="34" charset="0"/>
              <a:buChar char="•"/>
            </a:pPr>
            <a:r>
              <a:rPr lang="en-IN" sz="1200" b="1" dirty="0"/>
              <a:t>Validation program:</a:t>
            </a:r>
            <a:r>
              <a:rPr lang="en-IN" sz="1200" dirty="0"/>
              <a:t> </a:t>
            </a:r>
          </a:p>
          <a:p>
            <a:pPr marL="628650" lvl="1" indent="-171450" algn="just">
              <a:buFont typeface="Arial" panose="020B0604020202020204" pitchFamily="34" charset="0"/>
              <a:buChar char="•"/>
            </a:pPr>
            <a:r>
              <a:rPr lang="en-IN" sz="1200" dirty="0"/>
              <a:t>Nine quality gates (G0 to G8), a 24-test end-to-end qualification protocol (T01 to T24), and 10 technical spikes (DEP-S01 to S10).</a:t>
            </a:r>
          </a:p>
          <a:p>
            <a:pPr marL="628650" lvl="1" indent="-171450" algn="just">
              <a:buFont typeface="Arial" panose="020B0604020202020204" pitchFamily="34" charset="0"/>
              <a:buChar char="•"/>
            </a:pPr>
            <a:r>
              <a:rPr lang="en-IN" sz="1200" dirty="0"/>
              <a:t>Unauthorized egress has a hard acceptance value of zero.</a:t>
            </a:r>
          </a:p>
          <a:p>
            <a:pPr marL="628650" lvl="1" indent="-171450" algn="just">
              <a:buFont typeface="Arial" panose="020B0604020202020204" pitchFamily="34" charset="0"/>
              <a:buChar char="•"/>
            </a:pPr>
            <a:r>
              <a:rPr lang="en-IN" sz="1200" dirty="0"/>
              <a:t>Performance is measured as verified useful work per unit time and resource, not tokens per second.</a:t>
            </a:r>
          </a:p>
          <a:p>
            <a:pPr lvl="0" algn="just"/>
            <a:endParaRPr lang="en-IN" sz="1200" dirty="0"/>
          </a:p>
          <a:p>
            <a:pPr algn="just"/>
            <a:r>
              <a:rPr lang="en-IN" sz="1200" b="1" dirty="0"/>
              <a:t>Viability</a:t>
            </a:r>
          </a:p>
          <a:p>
            <a:pPr marL="171450" lvl="0" indent="-171450" algn="just">
              <a:buFont typeface="Arial" panose="020B0604020202020204" pitchFamily="34" charset="0"/>
              <a:buChar char="•"/>
            </a:pPr>
            <a:r>
              <a:rPr lang="en-IN" sz="1200" dirty="0"/>
              <a:t>Supports confidential-data workflows while reducing reliance on external AI services.</a:t>
            </a:r>
          </a:p>
          <a:p>
            <a:pPr marL="171450" lvl="0" indent="-171450" algn="just">
              <a:buFont typeface="Arial" panose="020B0604020202020204" pitchFamily="34" charset="0"/>
              <a:buChar char="•"/>
            </a:pPr>
            <a:r>
              <a:rPr lang="en-IN" sz="1200" dirty="0"/>
              <a:t>Potential to reduce manual knowledge-search effort and produce traceable, reusable work products.</a:t>
            </a:r>
          </a:p>
          <a:p>
            <a:pPr marL="171450" lvl="0" indent="-171450" algn="just">
              <a:buFont typeface="Arial" panose="020B0604020202020204" pitchFamily="34" charset="0"/>
              <a:buChar char="•"/>
            </a:pPr>
            <a:r>
              <a:rPr lang="en-IN" sz="1200" dirty="0"/>
              <a:t>Practical viability depends on measured accuracy, latency, concurrency, operating cost, and maintenance effort.</a:t>
            </a:r>
          </a:p>
          <a:p>
            <a:pPr marL="171450" lvl="0" indent="-171450" algn="just">
              <a:buFont typeface="Arial" panose="020B0604020202020204" pitchFamily="34" charset="0"/>
              <a:buChar char="•"/>
            </a:pPr>
            <a:r>
              <a:rPr lang="en-IN" sz="1200" dirty="0"/>
              <a:t>Security condition: Local deployment alone does not prove sovereignty; network egress, authorization, isolation, and audit controls must be tested.</a:t>
            </a:r>
          </a:p>
          <a:p>
            <a:pPr lvl="0" algn="just"/>
            <a:endParaRPr lang="en-IN" sz="1200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12" name="Oval 11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AEGIS</a:t>
            </a:r>
            <a:endParaRPr lang="en-IN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D95FCB19-43AD-DA9E-1B8D-C55EDD5F13E7}"/>
              </a:ext>
            </a:extLst>
          </p:cNvPr>
          <p:cNvSpPr txBox="1"/>
          <p:nvPr/>
        </p:nvSpPr>
        <p:spPr>
          <a:xfrm>
            <a:off x="5547464" y="892223"/>
            <a:ext cx="6482471" cy="54784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IN" sz="1400" b="1" dirty="0"/>
              <a:t>Security is enforced by architecture—not by model promises</a:t>
            </a:r>
          </a:p>
          <a:p>
            <a:pPr marL="171450" lvl="0" indent="-171450" algn="just">
              <a:buFont typeface="Arial" panose="020B0604020202020204" pitchFamily="34" charset="0"/>
              <a:buChar char="•"/>
            </a:pPr>
            <a:r>
              <a:rPr lang="en-IN" sz="1200" dirty="0"/>
              <a:t>Confidential data and intermediate representations are intended to remain within controlled infrastructure.</a:t>
            </a:r>
          </a:p>
          <a:p>
            <a:pPr marL="171450" lvl="0" indent="-171450" algn="just">
              <a:buFont typeface="Arial" panose="020B0604020202020204" pitchFamily="34" charset="0"/>
              <a:buChar char="•"/>
            </a:pPr>
            <a:r>
              <a:rPr lang="en-IN" sz="1200" dirty="0"/>
              <a:t>Identity, authorization, and policy sit outside the model; agents cannot grant themselves authority.</a:t>
            </a:r>
          </a:p>
          <a:p>
            <a:pPr marL="171450" lvl="0" indent="-171450" algn="just">
              <a:buFont typeface="Arial" panose="020B0604020202020204" pitchFamily="34" charset="0"/>
              <a:buChar char="•"/>
            </a:pPr>
            <a:r>
              <a:rPr lang="en-IN" sz="1200" dirty="0"/>
              <a:t>Data, retrieved passages, OCR output, and tool results are treated as untrusted input—not instructions.</a:t>
            </a:r>
          </a:p>
          <a:p>
            <a:pPr marL="171450" lvl="0" indent="-171450" algn="just">
              <a:buFont typeface="Arial" panose="020B0604020202020204" pitchFamily="34" charset="0"/>
              <a:buChar char="•"/>
            </a:pPr>
            <a:r>
              <a:rPr lang="en-IN" sz="1200" dirty="0"/>
              <a:t>Authorization precedes restricted evidence exposure wherever technically practical.</a:t>
            </a:r>
          </a:p>
          <a:p>
            <a:pPr marL="171450" lvl="0" indent="-171450" algn="just">
              <a:buFont typeface="Arial" panose="020B0604020202020204" pitchFamily="34" charset="0"/>
              <a:buChar char="•"/>
            </a:pPr>
            <a:r>
              <a:rPr lang="en-IN" sz="1200" dirty="0"/>
              <a:t>Tools and generated code operate within bounded permissions and isolated execution environments.</a:t>
            </a:r>
          </a:p>
          <a:p>
            <a:pPr marL="171450" lvl="0" indent="-171450" algn="just">
              <a:buFont typeface="Arial" panose="020B0604020202020204" pitchFamily="34" charset="0"/>
              <a:buChar char="•"/>
            </a:pPr>
            <a:r>
              <a:rPr lang="en-IN" sz="1200" dirty="0"/>
              <a:t>Independent verification, provenance, and audit support traceability and accountability.</a:t>
            </a:r>
          </a:p>
          <a:p>
            <a:pPr marL="171450" lvl="0" indent="-171450" algn="just">
              <a:buFont typeface="Arial" panose="020B0604020202020204" pitchFamily="34" charset="0"/>
              <a:buChar char="•"/>
            </a:pPr>
            <a:r>
              <a:rPr lang="en-IN" sz="1200" dirty="0"/>
              <a:t>Zero-egress and offline lifecycle are design requirements that must be empirically tested.</a:t>
            </a:r>
          </a:p>
          <a:p>
            <a:pPr marL="171450" indent="-171450" algn="just">
              <a:buFont typeface="Arial" panose="020B0604020202020204" pitchFamily="34" charset="0"/>
              <a:buChar char="•"/>
            </a:pPr>
            <a:r>
              <a:rPr lang="en-IN" sz="1200" dirty="0"/>
              <a:t>Callout: Local deployment alone does not prove sovereignty. Network egress, sandbox isolation, authorization, and audit integrity require validation.</a:t>
            </a:r>
          </a:p>
          <a:p>
            <a:pPr algn="just"/>
            <a:endParaRPr lang="en-IN" sz="1200" dirty="0"/>
          </a:p>
          <a:p>
            <a:pPr algn="just"/>
            <a:r>
              <a:rPr lang="en-IN" sz="1200" b="1" dirty="0"/>
              <a:t>Commercial viability</a:t>
            </a:r>
            <a:endParaRPr lang="en-IN" sz="1200" dirty="0"/>
          </a:p>
          <a:p>
            <a:pPr marL="171450" lvl="0" indent="-171450" algn="just">
              <a:buFont typeface="Arial" panose="020B0604020202020204" pitchFamily="34" charset="0"/>
              <a:buChar char="•"/>
            </a:pPr>
            <a:r>
              <a:rPr lang="en-IN" sz="1200" b="1" dirty="0"/>
              <a:t>Demand:</a:t>
            </a:r>
            <a:r>
              <a:rPr lang="en-IN" sz="1200" dirty="0"/>
              <a:t> McKinsey reports 23% scaling and 39% experimenting with agents. PwC reports 79% of surveyed companies have adopted agents. IDC projects enterprise AI spend of $307B (2025) rising to $632B (2028).</a:t>
            </a:r>
          </a:p>
          <a:p>
            <a:pPr marL="171450" lvl="0" indent="-171450" algn="just">
              <a:buFont typeface="Arial" panose="020B0604020202020204" pitchFamily="34" charset="0"/>
              <a:buChar char="•"/>
            </a:pPr>
            <a:r>
              <a:rPr lang="en-IN" sz="1200" b="1" dirty="0"/>
              <a:t>No sovereign-AI TAM:</a:t>
            </a:r>
            <a:r>
              <a:rPr lang="en-IN" sz="1200" dirty="0"/>
              <a:t> The files say a clean TAM doesn't exist and recommend bottom-up sizing: target organizations × deployable sites × annual software/support value.</a:t>
            </a:r>
          </a:p>
          <a:p>
            <a:pPr marL="171450" lvl="0" indent="-171450" algn="just">
              <a:buFont typeface="Arial" panose="020B0604020202020204" pitchFamily="34" charset="0"/>
              <a:buChar char="•"/>
            </a:pPr>
            <a:r>
              <a:rPr lang="en-IN" sz="1200" b="1" dirty="0"/>
              <a:t>Willingness to pay:</a:t>
            </a:r>
            <a:r>
              <a:rPr lang="en-IN" sz="1200" dirty="0"/>
              <a:t> GitLab Duo Self-Hosted (offline), Palantir/NVIDIA sovereign reference architectures, and IBM on-prem show buyers pay for local and air-gapped agentic AI.</a:t>
            </a:r>
          </a:p>
          <a:p>
            <a:pPr marL="171450" lvl="0" indent="-171450" algn="just">
              <a:buFont typeface="Arial" panose="020B0604020202020204" pitchFamily="34" charset="0"/>
              <a:buChar char="•"/>
            </a:pPr>
            <a:r>
              <a:rPr lang="en-IN" sz="1200" b="1" dirty="0"/>
              <a:t>India tailwind:</a:t>
            </a:r>
            <a:r>
              <a:rPr lang="en-IN" sz="1200" dirty="0"/>
              <a:t> </a:t>
            </a:r>
            <a:r>
              <a:rPr lang="en-IN" sz="1200" dirty="0" err="1"/>
              <a:t>IndiaAI</a:t>
            </a:r>
            <a:r>
              <a:rPr lang="en-IN" sz="1200" dirty="0"/>
              <a:t> Mission outlay of ₹10,371.92 crore, 15 compute providers, and 93.18 lakh sanctioned GPU hours. The February 2026 governance guidelines emphasize human control and lightweight models. R2 rates policy support High and commercial demand Medium.</a:t>
            </a:r>
          </a:p>
          <a:p>
            <a:pPr marL="171450" lvl="0" indent="-171450" algn="just">
              <a:buFont typeface="Arial" panose="020B0604020202020204" pitchFamily="34" charset="0"/>
              <a:buChar char="•"/>
            </a:pPr>
            <a:r>
              <a:rPr lang="en-IN" sz="1200" b="1" dirty="0"/>
              <a:t>Regulatory fit:</a:t>
            </a:r>
            <a:r>
              <a:rPr lang="en-IN" sz="1200" dirty="0"/>
              <a:t> Say "deployment patterns compatible with" CERT-In audit guidance, DPDP, NCIIPC CII/OT, and NIST AI RMF. Do not say "compliant."</a:t>
            </a:r>
          </a:p>
          <a:p>
            <a:pPr marL="171450" lvl="0" indent="-171450" algn="just">
              <a:buFont typeface="Arial" panose="020B0604020202020204" pitchFamily="34" charset="0"/>
              <a:buChar char="•"/>
            </a:pPr>
            <a:r>
              <a:rPr lang="en-IN" sz="1200" b="1" dirty="0"/>
              <a:t>Moat:</a:t>
            </a:r>
            <a:r>
              <a:rPr lang="en-IN" sz="1200" dirty="0"/>
              <a:t> Customer workflow knowledge, evaluation corpora, deployment/security profiles, and the evidence model.</a:t>
            </a:r>
          </a:p>
        </p:txBody>
      </p:sp>
    </p:spTree>
    <p:extLst>
      <p:ext uri="{BB962C8B-B14F-4D97-AF65-F5344CB8AC3E}">
        <p14:creationId xmlns:p14="http://schemas.microsoft.com/office/powerpoint/2010/main" val="37533879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20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IMPACT AND BENEFITS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113463" y="1123321"/>
            <a:ext cx="4900988" cy="526297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just"/>
            <a:r>
              <a:rPr lang="en-IN" sz="1200" b="1" dirty="0"/>
              <a:t>Expected impact</a:t>
            </a:r>
          </a:p>
          <a:p>
            <a:pPr lvl="0" algn="just"/>
            <a:r>
              <a:rPr lang="en-IN" sz="1200" dirty="0"/>
              <a:t>Confidentiality: Reduce dependence on sending sensitive engineering data to external AI services.</a:t>
            </a:r>
          </a:p>
          <a:p>
            <a:pPr lvl="0" algn="just"/>
            <a:r>
              <a:rPr lang="en-IN" sz="1200" dirty="0"/>
              <a:t>Productivity: Reduce manual search and cross-document investigation effort.</a:t>
            </a:r>
          </a:p>
          <a:p>
            <a:pPr lvl="0" algn="just"/>
            <a:r>
              <a:rPr lang="en-IN" sz="1200" dirty="0"/>
              <a:t>Decision support: Surface source-backed findings and highlight evidence gaps.</a:t>
            </a:r>
          </a:p>
          <a:p>
            <a:pPr lvl="0" algn="just"/>
            <a:r>
              <a:rPr lang="en-IN" sz="1200" dirty="0"/>
              <a:t>Operational value: Turn investigations into structured, reusable artifacts.</a:t>
            </a:r>
          </a:p>
          <a:p>
            <a:pPr lvl="0" algn="just"/>
            <a:r>
              <a:rPr lang="en-IN" sz="1200" dirty="0"/>
              <a:t>Governance: Improve traceability through controlled actions, verification, and audit.</a:t>
            </a:r>
          </a:p>
          <a:p>
            <a:pPr lvl="0" algn="just"/>
            <a:endParaRPr lang="en-IN" sz="1200" dirty="0"/>
          </a:p>
          <a:p>
            <a:pPr algn="just"/>
            <a:r>
              <a:rPr lang="en-IN" sz="1200" b="1" dirty="0"/>
              <a:t>Feasibility &amp; validation</a:t>
            </a:r>
          </a:p>
          <a:p>
            <a:pPr lvl="0" algn="just"/>
            <a:r>
              <a:rPr lang="en-IN" sz="1200" dirty="0"/>
              <a:t>Focused MVP on a single controlled Linux workstation/server.</a:t>
            </a:r>
          </a:p>
          <a:p>
            <a:pPr lvl="0" algn="just"/>
            <a:r>
              <a:rPr lang="en-IN" sz="1200" dirty="0"/>
              <a:t>Reference qualification target: 16–32 modern CPU cores, 128 GB ECC RAM preferred, one 48 GB-class GPU, </a:t>
            </a:r>
            <a:r>
              <a:rPr lang="en-IN" sz="1200" dirty="0" err="1"/>
              <a:t>NVMe</a:t>
            </a:r>
            <a:r>
              <a:rPr lang="en-IN" sz="1200" dirty="0"/>
              <a:t> storage, offline backup.</a:t>
            </a:r>
          </a:p>
          <a:p>
            <a:pPr lvl="0" algn="just"/>
            <a:r>
              <a:rPr lang="en-IN" sz="1200" dirty="0"/>
              <a:t>Validate full workflows under realistic resource, latency, concurrency, and failure conditions.</a:t>
            </a:r>
          </a:p>
          <a:p>
            <a:pPr lvl="0" algn="just"/>
            <a:r>
              <a:rPr lang="en-IN" sz="1200" dirty="0"/>
              <a:t>Key risks: local model quality, VRAM limits, P&amp;ID interpretation, agent reliability, sandbox security, and zero-egress proof.</a:t>
            </a:r>
          </a:p>
          <a:p>
            <a:pPr lvl="0" algn="just"/>
            <a:endParaRPr lang="en-IN" sz="1200" dirty="0"/>
          </a:p>
          <a:p>
            <a:pPr algn="just"/>
            <a:r>
              <a:rPr lang="en-IN" sz="1200" b="1" dirty="0"/>
              <a:t>Next milestones</a:t>
            </a:r>
          </a:p>
          <a:p>
            <a:pPr lvl="0" algn="just"/>
            <a:r>
              <a:rPr lang="en-IN" sz="1200" dirty="0"/>
              <a:t>Complete end-to-end W3/W2 workflow integration.</a:t>
            </a:r>
          </a:p>
          <a:p>
            <a:pPr lvl="0" algn="just"/>
            <a:r>
              <a:rPr lang="en-IN" sz="1200" dirty="0"/>
              <a:t>Validate retrieval quality, citations, and document extraction against test sets.</a:t>
            </a:r>
          </a:p>
          <a:p>
            <a:pPr lvl="0" algn="just"/>
            <a:r>
              <a:rPr lang="en-IN" sz="1200" dirty="0"/>
              <a:t>Qualify local inference and hardware resource envelope.</a:t>
            </a:r>
          </a:p>
          <a:p>
            <a:pPr lvl="0" algn="just"/>
            <a:r>
              <a:rPr lang="en-IN" sz="1200" dirty="0"/>
              <a:t>Test security boundaries, malicious documents, prompt injection, and failure recovery.</a:t>
            </a:r>
          </a:p>
          <a:p>
            <a:pPr lvl="0" algn="just"/>
            <a:r>
              <a:rPr lang="en-IN" sz="1200" dirty="0"/>
              <a:t>Demonstrate a controlled MVP with measured results.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12" name="Oval 11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AEGIS</a:t>
            </a:r>
            <a:endParaRPr lang="en-IN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9B4ECF04-4F66-7F12-9D51-33C977E45F3F}"/>
              </a:ext>
            </a:extLst>
          </p:cNvPr>
          <p:cNvSpPr txBox="1"/>
          <p:nvPr/>
        </p:nvSpPr>
        <p:spPr>
          <a:xfrm>
            <a:off x="5014452" y="1059578"/>
            <a:ext cx="7015484" cy="52937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/>
            <a:r>
              <a:rPr lang="en-IN" sz="1400" b="1" dirty="0"/>
              <a:t>Benefits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IN" sz="1200" b="1" dirty="0"/>
              <a:t>Engineers and inspectors:</a:t>
            </a:r>
            <a:r>
              <a:rPr lang="en-IN" sz="1200" dirty="0"/>
              <a:t> Faster cross-document investigation, source-cited findings, and abstention instead of hallucination.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endParaRPr lang="en-IN" sz="1200" dirty="0"/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IN" sz="1200" b="1" dirty="0"/>
              <a:t>Externally cited efficiency benchmarks (label as such):</a:t>
            </a:r>
            <a:r>
              <a:rPr lang="en-IN" sz="1200" dirty="0"/>
              <a:t> INL's roughly 50% SME-estimated effort reduction, and SLB's workflow of 22 fields extracted, over 1,000 emails and 200 invoices a month, and about 1 FTE saved.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endParaRPr lang="en-IN" sz="1200" b="1" dirty="0"/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IN" sz="1200" b="1" dirty="0"/>
              <a:t>Risk reduction:</a:t>
            </a:r>
            <a:r>
              <a:rPr lang="en-IN" sz="1200" dirty="0"/>
              <a:t> A capable in-boundary tool removes the incentive for shadow AI, addressing the leakage rates on slide 2.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endParaRPr lang="en-IN" sz="1200" b="1" dirty="0"/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IN" sz="1200" b="1" dirty="0"/>
              <a:t>Security and governance:</a:t>
            </a:r>
            <a:r>
              <a:rPr lang="en-IN" sz="1200" dirty="0"/>
              <a:t> Claim-level provenance, </a:t>
            </a:r>
            <a:r>
              <a:rPr lang="en-IN" sz="1200" dirty="0" err="1"/>
              <a:t>reconstructable</a:t>
            </a:r>
            <a:r>
              <a:rPr lang="en-IN" sz="1200" dirty="0"/>
              <a:t> audit, and sovereignty evidence derived from traffic data rather than asserted. It also produces the inventory CERT-In guidance calls for: model revision, engine, parser, policy version, network policy, and SBOM/AIBOM.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endParaRPr lang="en-IN" sz="1200" b="1" dirty="0"/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IN" sz="1200" b="1" dirty="0"/>
              <a:t>Operational:</a:t>
            </a:r>
            <a:r>
              <a:rPr lang="en-IN" sz="1200" dirty="0"/>
              <a:t> One execution substrate (one task interface, policy model, tool layer, and audit system) replaces disconnected point solutions. It runs on a single node instead of a Palantir-class footprint, with no model lock-in.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endParaRPr lang="en-IN" sz="1200" b="1" dirty="0"/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IN" sz="1200" b="1" dirty="0"/>
              <a:t>Safety posture:</a:t>
            </a:r>
            <a:r>
              <a:rPr lang="en-IN" sz="1200" dirty="0"/>
              <a:t> No autonomous OT/ICS control, and humans keep consequential authority.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endParaRPr lang="en-IN" sz="1200" b="1" dirty="0"/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IN" sz="1200" b="1" dirty="0"/>
              <a:t>Measured, not asserted:</a:t>
            </a:r>
            <a:r>
              <a:rPr lang="en-IN" sz="1200" dirty="0"/>
              <a:t> State that release is gated on the Phase 5 threshold register: unsafe-answer rate, correct-abstention rate, retrieval recall, authority and revision accuracy, P&amp;ID relationship F1, artifact acceptance, P95 latency, prompt-injection unsafe-success rate, audit completeness, and provenance coverage. Targets are set from baseline benchmarks, not guessed.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endParaRPr lang="en-IN" sz="1200" b="1" dirty="0"/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IN" sz="1200" b="1" dirty="0"/>
              <a:t>Strategic:</a:t>
            </a:r>
            <a:r>
              <a:rPr lang="en-IN" sz="1200" dirty="0"/>
              <a:t> Supports sovereign and indigenous AI adoption in strategic industries.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IN" sz="1200" dirty="0"/>
          </a:p>
        </p:txBody>
      </p:sp>
    </p:spTree>
    <p:extLst>
      <p:ext uri="{BB962C8B-B14F-4D97-AF65-F5344CB8AC3E}">
        <p14:creationId xmlns:p14="http://schemas.microsoft.com/office/powerpoint/2010/main" val="29971441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20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RESEARCH  AND REFERENCES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727045" y="1432478"/>
            <a:ext cx="10438701" cy="418576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400" b="1" dirty="0"/>
              <a:t>Market and adoption:</a:t>
            </a:r>
            <a:r>
              <a:rPr lang="en-IN" sz="1400" dirty="0"/>
              <a:t> McKinsey, </a:t>
            </a:r>
            <a:r>
              <a:rPr lang="en-IN" sz="1400" i="1" dirty="0"/>
              <a:t>The State of AI in 2025</a:t>
            </a:r>
            <a:r>
              <a:rPr lang="en-IN" sz="1400" dirty="0"/>
              <a:t> (5 Nov 2025); IDC </a:t>
            </a:r>
            <a:r>
              <a:rPr lang="en-IN" sz="1400" dirty="0" err="1"/>
              <a:t>FutureScape</a:t>
            </a:r>
            <a:r>
              <a:rPr lang="en-IN" sz="1400" dirty="0"/>
              <a:t> 2025; Gartner press release (31 Mar 2025); Deloitte, </a:t>
            </a:r>
            <a:r>
              <a:rPr lang="en-IN" sz="1400" i="1" dirty="0"/>
              <a:t>State of AI in the Enterprise</a:t>
            </a:r>
            <a:r>
              <a:rPr lang="en-IN" sz="1400" dirty="0"/>
              <a:t>; PwC AI Agent Survey; Federal Reserve FEDS Note (3 Apr 2026); PagerDuty survey and </a:t>
            </a:r>
            <a:r>
              <a:rPr lang="en-IN" sz="1400" dirty="0" err="1"/>
              <a:t>LayerX</a:t>
            </a:r>
            <a:r>
              <a:rPr lang="en-IN" sz="1400" dirty="0"/>
              <a:t> telemetry.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endParaRPr lang="en-IN" sz="1400" dirty="0"/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400" b="1" dirty="0"/>
              <a:t>India policy:</a:t>
            </a:r>
            <a:r>
              <a:rPr lang="en-IN" sz="1400" dirty="0"/>
              <a:t> </a:t>
            </a:r>
            <a:r>
              <a:rPr lang="en-IN" sz="1400" dirty="0" err="1"/>
              <a:t>MeitY</a:t>
            </a:r>
            <a:r>
              <a:rPr lang="en-IN" sz="1400" dirty="0"/>
              <a:t> India AI Governance Guidelines (15 Feb 2026); PIB release PRID 2295477 (6 Aug 2026).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endParaRPr lang="en-IN" sz="1400" b="1" dirty="0"/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400" b="1" dirty="0"/>
              <a:t>Domain research:</a:t>
            </a:r>
            <a:r>
              <a:rPr lang="en-IN" sz="1400" dirty="0"/>
              <a:t> </a:t>
            </a:r>
            <a:r>
              <a:rPr lang="en-IN" sz="1400" dirty="0" err="1"/>
              <a:t>Dzhusupova</a:t>
            </a:r>
            <a:r>
              <a:rPr lang="en-IN" sz="1400" dirty="0"/>
              <a:t> et al., </a:t>
            </a:r>
            <a:r>
              <a:rPr lang="en-IN" sz="1400" i="1" dirty="0"/>
              <a:t>J. </a:t>
            </a:r>
            <a:r>
              <a:rPr lang="en-IN" sz="1400" i="1" dirty="0" err="1"/>
              <a:t>Softw</a:t>
            </a:r>
            <a:r>
              <a:rPr lang="en-IN" sz="1400" i="1" dirty="0"/>
              <a:t>. Evol. Process</a:t>
            </a:r>
            <a:r>
              <a:rPr lang="en-IN" sz="1400" dirty="0"/>
              <a:t> (2023), DOI 10.1002/smr.2543; Filius, TU Delft MSc thesis (2026); INL, "Evaluation of AI-Enabled Digital Documented Safety Analysis" (2026); Microsoft Learn SLB case; IBM </a:t>
            </a:r>
            <a:r>
              <a:rPr lang="en-IN" sz="1400" dirty="0" err="1"/>
              <a:t>watsonx</a:t>
            </a:r>
            <a:r>
              <a:rPr lang="en-IN" sz="1400" dirty="0"/>
              <a:t> Orchestrate permission-aware assistant (23 Jul 2026).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endParaRPr lang="en-IN" sz="1400" b="1" dirty="0"/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400" b="1" dirty="0"/>
              <a:t>P&amp;ID and routing research:</a:t>
            </a:r>
            <a:r>
              <a:rPr lang="en-IN" sz="1400" dirty="0"/>
              <a:t> PID2Graph (</a:t>
            </a:r>
            <a:r>
              <a:rPr lang="en-IN" sz="1400" dirty="0" err="1"/>
              <a:t>Zenodo</a:t>
            </a:r>
            <a:r>
              <a:rPr lang="en-IN" sz="1400" dirty="0"/>
              <a:t> 14803338); </a:t>
            </a:r>
            <a:r>
              <a:rPr lang="en-IN" sz="1400" dirty="0" err="1"/>
              <a:t>SynthPID</a:t>
            </a:r>
            <a:r>
              <a:rPr lang="en-IN" sz="1400" dirty="0"/>
              <a:t> (</a:t>
            </a:r>
            <a:r>
              <a:rPr lang="en-IN" sz="1400" dirty="0" err="1"/>
              <a:t>arXiv</a:t>
            </a:r>
            <a:r>
              <a:rPr lang="en-IN" sz="1400" dirty="0"/>
              <a:t> 2604.16513); </a:t>
            </a:r>
            <a:r>
              <a:rPr lang="en-IN" sz="1400" dirty="0" err="1"/>
              <a:t>Enginuity</a:t>
            </a:r>
            <a:r>
              <a:rPr lang="en-IN" sz="1400" dirty="0"/>
              <a:t> (2606.03410); Grounded and Faithful P&amp;ID Reasoning (2609.05880); DEXPI; TRACE-Router (2607.22465); HW-Router (2608.14575); Proof-Carrying Agent Actions (2606.04104).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endParaRPr lang="en-IN" sz="1400" b="1" dirty="0"/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400" b="1" dirty="0"/>
              <a:t>Security and regulatory:</a:t>
            </a:r>
            <a:r>
              <a:rPr lang="en-IN" sz="1400" dirty="0"/>
              <a:t> CERT-In Comprehensive Cyber Security Audit Policy Guidelines (2025); CERT-In Directions FAQs (2022); NIST AI 600-1; DPDP Act 2023 and Rules 2025; NCIIPC CII Guidelines; QCI-NCIIPC CAF; </a:t>
            </a:r>
            <a:r>
              <a:rPr lang="en-IN" sz="1400" dirty="0" err="1"/>
              <a:t>MeitY</a:t>
            </a:r>
            <a:r>
              <a:rPr lang="en-IN" sz="1400" dirty="0"/>
              <a:t> GI Cloud Reference Architecture.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endParaRPr lang="en-IN" sz="1400" b="1" dirty="0"/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400" b="1" dirty="0"/>
              <a:t>Competitor and technology documentation:</a:t>
            </a:r>
            <a:r>
              <a:rPr lang="en-IN" sz="1400" dirty="0"/>
              <a:t> Palantir architecture center; Palantir–NVIDIA sovereign AI OS (12 Mar 2026); IBM </a:t>
            </a:r>
            <a:r>
              <a:rPr lang="en-IN" sz="1400" dirty="0" err="1"/>
              <a:t>watsonx</a:t>
            </a:r>
            <a:r>
              <a:rPr lang="en-IN" sz="1400" dirty="0"/>
              <a:t> Orchestrate; GitLab Duo Self-Hosted; Onyx; </a:t>
            </a:r>
            <a:r>
              <a:rPr lang="en-IN" sz="1400" dirty="0" err="1"/>
              <a:t>RAGFlow</a:t>
            </a:r>
            <a:r>
              <a:rPr lang="en-IN" sz="1400" dirty="0"/>
              <a:t>; Open </a:t>
            </a:r>
            <a:r>
              <a:rPr lang="en-IN" sz="1400" dirty="0" err="1"/>
              <a:t>WebUI</a:t>
            </a:r>
            <a:r>
              <a:rPr lang="en-IN" sz="1400" dirty="0"/>
              <a:t>; Nutanix Enterprise AI; VMware Private AI Foundation; Red Hat AI; NVIDIA NIM air-gap docs; Qwen3.5-9B model card.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9" name="Oval 8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AEGIS</a:t>
            </a:r>
            <a:endParaRPr lang="en-IN" dirty="0"/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678861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7593</TotalTime>
  <Words>2442</Words>
  <Application>Microsoft Office PowerPoint</Application>
  <PresentationFormat>Widescreen</PresentationFormat>
  <Paragraphs>159</Paragraphs>
  <Slides>6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4" baseType="lpstr">
      <vt:lpstr>ＭＳ Ｐゴシック</vt:lpstr>
      <vt:lpstr>Arial</vt:lpstr>
      <vt:lpstr>Calibri</vt:lpstr>
      <vt:lpstr>Garamond</vt:lpstr>
      <vt:lpstr>Times New Roman</vt:lpstr>
      <vt:lpstr>TradeGothic</vt:lpstr>
      <vt:lpstr>Wingdings</vt:lpstr>
      <vt:lpstr>Office Theme</vt:lpstr>
      <vt:lpstr>SMART INDIA HACKATHON 2026</vt:lpstr>
      <vt:lpstr> IDEA TITLE: Sovereign Agentic AI Workbench </vt:lpstr>
      <vt:lpstr>TECHNICAL APPROACH</vt:lpstr>
      <vt:lpstr>FEASIBILITY AND VIABILITY</vt:lpstr>
      <vt:lpstr>IMPACT AND BENEFITS</vt:lpstr>
      <vt:lpstr>RESEARCH  AND REFERENCES</vt:lpstr>
    </vt:vector>
  </TitlesOfParts>
  <Manager/>
  <Company>Crowdfunder, Inc.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Investor Pitch Deck Template</dc:title>
  <dc:subject/>
  <dc:creator>Crowdfunder</dc:creator>
  <cp:keywords/>
  <dc:description/>
  <cp:lastModifiedBy>My Things</cp:lastModifiedBy>
  <cp:revision>155</cp:revision>
  <dcterms:created xsi:type="dcterms:W3CDTF">2013-12-12T18:46:50Z</dcterms:created>
  <dcterms:modified xsi:type="dcterms:W3CDTF">2026-09-20T09:48:01Z</dcterms:modified>
  <cp:category/>
</cp:coreProperties>
</file>